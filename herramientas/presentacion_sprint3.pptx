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5597"/>
                </a:solidFill>
                <a:latin typeface="Calibri"/>
              </a:rPr>
              <a:t>PRESENTACIÓN FINAL ·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987552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3864"/>
                </a:solidFill>
                <a:latin typeface="Calibri"/>
              </a:rPr>
              <a:t>Clasificación y segmentación de tumores cerebrales en resonancias magnéticas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9875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280"/>
                </a:solidFill>
                <a:latin typeface="Calibri"/>
              </a:rPr>
              <a:t>Evaluación, despliegue y cierre del proyecto (demostración académica)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749039"/>
            <a:ext cx="1463040" cy="36576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63238"/>
                </a:solidFill>
                <a:latin typeface="Calibri"/>
              </a:rPr>
              <a:t>Proyecto académico de Redes Neuronales · Ingeniería de Sistemas – 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100584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3238"/>
                </a:solidFill>
                <a:latin typeface="Calibri"/>
              </a:rPr>
              <a:t>Coavoy Cruz Joseph Gabriel · Cuchuyrrumi Mamani Manuel Rodrigo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3238"/>
                </a:solidFill>
                <a:latin typeface="Calibri"/>
              </a:rPr>
              <a:t>Huallpatuiro Rafaile Brayan · Mamani Acuña Frank Joseph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Docente revisor: Ing. Hugo Espetia Huamanga  ·  30 de octubre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669280"/>
            <a:ext cx="3429000" cy="292608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HU12 · Evaluación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5669280"/>
            <a:ext cx="3429000" cy="292608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HU13 · Despliegue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5669280"/>
            <a:ext cx="3429000" cy="292608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HU14 · MLOps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08076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F5597"/>
                </a:solidFill>
                <a:latin typeface="Calibri"/>
              </a:rPr>
              <a:t>Demostración académica · Apoyo al diagnóstico, no es un diagnóstico médico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847088"/>
            <a:ext cx="9144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Calibri"/>
              </a:rPr>
              <a:t>Resumen Sprints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2402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Datos, modelado y modelos elegidos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24912"/>
            <a:ext cx="502920" cy="50292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743200"/>
            <a:ext cx="9144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Calibri"/>
              </a:rPr>
              <a:t>HU12 — Evaluación en la prueba oficial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13639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Una sola vez, 6 semillas, metas del acta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21024"/>
            <a:ext cx="502920" cy="502920"/>
          </a:xfrm>
          <a:prstGeom prst="ellipse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639312"/>
            <a:ext cx="9144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Calibri"/>
              </a:rPr>
              <a:t>HU13 — Despliegue: sistema clínico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4032504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Demo del flujo de apoyo al diagnóstico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17136"/>
            <a:ext cx="502920" cy="502920"/>
          </a:xfrm>
          <a:prstGeom prst="ellipse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535423"/>
            <a:ext cx="9144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Calibri"/>
              </a:rPr>
              <a:t>HU14 — MLOps básico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92861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Versionado y monitoreo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413248"/>
            <a:ext cx="502920" cy="50292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5431536"/>
            <a:ext cx="9144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Calibri"/>
              </a:rPr>
              <a:t>Riesgos, limitaciones y conclusiones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5824728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Cierre del proyecto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Joseph Coavoy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Problema y metodología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Joseph Coavoy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539496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5394960" cy="6400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74520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7A8B"/>
                </a:solidFill>
                <a:latin typeface="Calibri"/>
              </a:rPr>
              <a:t>EL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58568"/>
            <a:ext cx="493776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3238"/>
                </a:solidFill>
                <a:latin typeface="Calibri"/>
              </a:rPr>
              <a:t>Apoyar la lectura de resonancias T1 en neuro-oncología: sugerir el tipo de tumor y marcar su contorno, como apoyo al diagnóstico (no lo reemplaza).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539496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5394960" cy="6400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5597"/>
                </a:solidFill>
                <a:latin typeface="Calibri"/>
              </a:rPr>
              <a:t>METAS DEL ACTA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493776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3238"/>
                </a:solidFill>
                <a:latin typeface="Calibri"/>
              </a:rPr>
              <a:t>Accuracy ≥ 95 %  ·  recall ≥ 90 % por clase  ·  IoU ≥ 70 %, medidas sobre la prueba oficial.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5212080" cy="397763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212080" cy="6400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7452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8C6A"/>
                </a:solidFill>
                <a:latin typeface="Calibri"/>
              </a:rPr>
              <a:t>METODOLOGÍA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58568"/>
            <a:ext cx="4754880" cy="3246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3238"/>
                </a:solidFill>
                <a:latin typeface="Calibri"/>
              </a:rPr>
              <a:t>Scrum organiza el trabajo (sprints, revisión y retrospectiva); CRISP-ML(Q) organiza el ciclo del modelo.
Sprint 1 — negocio y datos
Sprint 2 — modelado
Sprint 3 — evaluación y despliegue.
Reglas: no inventar datos; la prueba oficial se evalúa una sola vez; datos ficticios en la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SPRINTS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De dónde partimos: datos y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Joseph Coavoy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10908792" cy="2011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Dataset BRISC 2025 (CC BY 4.0): 6.000 imágenes, 4.793 máscaras; partición propia (semilla 42) 3.999 / 1.001 / 1.000; prueba oficial intacta.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Sprint 2: 13 entrenamientos; se compararon EfficientNetB0 y ResNet50 (clasificación) y U-Net ResNet34 (segmentación), con ajuste de hiperparámetros y 3 semillas.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Modelos elegidos por validación: EfficientNetB0 (lote 64) e U-Net (lr 1e-4).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931920"/>
          <a:ext cx="10881359" cy="17007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60320"/>
                <a:gridCol w="4572000"/>
                <a:gridCol w="374903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Tarea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 elegido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Validación (3 semillas)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Clasificación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EfficientNetB0 (lote 64)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recall 99,57 % ± 0,15 %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Segmentación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U-Net ResNet34 (lr 1e-4)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IoU 80,12 % ± 0,33 %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HU12 ·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Resultados en la prueba oficial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356616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64008" cy="13716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99.10%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accuracy (clasificación)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737360"/>
            <a:ext cx="356616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737360"/>
            <a:ext cx="64008" cy="13716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920240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80.10%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51760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IoU (segmentación)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737360"/>
            <a:ext cx="320040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737360"/>
            <a:ext cx="64008" cy="1371600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92024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87.07%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5176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Dice (segmentación)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109087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Evaluada una sola vez · modelo desplegado = mejor por validación (semilla 2024) · las 3 metas del acta se cumplen</a:t>
            </a:r>
          </a:p>
        </p:txBody>
      </p:sp>
      <p:pic>
        <p:nvPicPr>
          <p:cNvPr id="23" name="Picture 22" descr="val_vs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749039"/>
            <a:ext cx="7955279" cy="2840127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HU12 · ROBUSTEZ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Por semilla y efecto de la fuga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pic>
        <p:nvPicPr>
          <p:cNvPr id="10" name="Picture 9" descr="prueba_semillas_vec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37360"/>
            <a:ext cx="8686800" cy="3101289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Promedio 3 semillas: clasificador 99.17% ± 0.12% · U-Net 79.90% ± 0.19%. 196 imágenes con vecino cercano; sin ellas baja poco (98.88% / 78.43%).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HU12 ·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Recall por clase y matriz de confusión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pic>
        <p:nvPicPr>
          <p:cNvPr id="10" name="Picture 9" descr="prueba_recall_por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486400" cy="3403546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pic>
        <p:nvPicPr>
          <p:cNvPr id="11" name="Picture 10" descr="prueba_matriz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83080"/>
            <a:ext cx="4572000" cy="3692769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Todas las clases superan la meta de recall (90 %); el glioma es la más difícil (97.24%).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HU12 · SEGMENTACIÓN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IoU por clase y ejemplos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10" name="Picture 9" descr="prueba_iou_por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120640" cy="3275415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pic>
        <p:nvPicPr>
          <p:cNvPr id="11" name="Picture 10" descr="prueba_ejemplos_segmen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54480"/>
            <a:ext cx="3260687" cy="4480560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El glioma, de bajo contraste, es el más difícil de segmentar (IoU 67.97%).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RIESGO R09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Atajo por procedencia de la imagen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pic>
        <p:nvPicPr>
          <p:cNvPr id="10" name="Picture 9" descr="prueba_por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783080"/>
            <a:ext cx="7955279" cy="2771925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Por tipo de archivo (gris/RGB) la clasificación casi no cambia; en segmentación hay una brecha que coincide con que el glioma es mayoritariamente en gris. Se reporta como limitación.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HU13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El sistema clínico — flujo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10" name="Picture 9" descr="app_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566160" cy="3115932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5212080"/>
            <a:ext cx="3566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1. Inicio de sesión</a:t>
            </a:r>
          </a:p>
        </p:txBody>
      </p:sp>
      <p:pic>
        <p:nvPicPr>
          <p:cNvPr id="12" name="Picture 11" descr="app_cas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28800"/>
            <a:ext cx="3566160" cy="3115932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434840" y="5212080"/>
            <a:ext cx="3566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2. Casos</a:t>
            </a:r>
          </a:p>
        </p:txBody>
      </p:sp>
      <p:pic>
        <p:nvPicPr>
          <p:cNvPr id="14" name="Picture 13" descr="app_estudi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0"/>
            <a:ext cx="3566160" cy="3115932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229600" y="5212080"/>
            <a:ext cx="3566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3. Subir la resonancia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Prototipo clínico (FastAPI + ONNX en CPU), diseño blanco y formal, funciona sin internet.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HU13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Resultado y revisión del médico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10" name="Picture 9" descr="app_result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486400" cy="4793742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pic>
        <p:nvPicPr>
          <p:cNvPr id="11" name="Picture 10" descr="app_sin_tum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4937760" cy="4314368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Clase sugerida, probabilidades, contorno del tumor y revisión del médico. Si el sistema sugiere «sin tumor», no muestra contorno (derecha). Alerta de confianza baja &lt; 80 %.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HU13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Informe del caso y ficha del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pic>
        <p:nvPicPr>
          <p:cNvPr id="10" name="Picture 9" descr="app_infor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486400" cy="4793742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pic>
        <p:nvPicPr>
          <p:cNvPr id="11" name="Picture 10" descr="app_fich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4937760" cy="3302127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Informe imprimible con la versión de los modelos y el aviso. La ficha muestra las métricas (validación y prueba), el uso previsto y las limitaciones.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HU14 ·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Versionado y monitoreo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760720" cy="3657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Modelos en ONNX con tarjeta de modelo y SHA-256; paridad PyTorch↔ONNX verificada.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registro_modelos.json: procedencia, SHA-256, métricas, versión del dataset y commit de Git (7e19df8).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Etiquetas de Git: datos-v1.0, modelo-clasificador-v1.0, modelo-segmentacion-v1.0, app-v1.0.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Monitoreo en la app: cada predicción (clase, confianza, tiempo, brillo, alerta) sin guardar imágenes ni datos personales; brillo medio como señal de deriva.</a:t>
            </a:r>
          </a:p>
        </p:txBody>
      </p:sp>
      <p:pic>
        <p:nvPicPr>
          <p:cNvPr id="11" name="Picture 10" descr="app_monitor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4846320" cy="3204629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CUMPLIMIENTO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Metas del acta en la prueba oficial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011680"/>
          <a:ext cx="11521440" cy="2633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931920"/>
                <a:gridCol w="2103120"/>
                <a:gridCol w="3108960"/>
                <a:gridCol w="23774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Logrado (prueba)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63238"/>
                          </a:solidFill>
                          <a:latin typeface="Calibri"/>
                        </a:rPr>
                        <a:t>Accuracy (clasificación)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≥ 95 %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99.10%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63238"/>
                          </a:solidFill>
                          <a:latin typeface="Calibri"/>
                        </a:rPr>
                        <a:t>Recall mínimo por clase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≥ 90 %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97.24% (glioma)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63238"/>
                          </a:solidFill>
                          <a:latin typeface="Calibri"/>
                        </a:rPr>
                        <a:t>IoU (segmentación)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≥ 70 %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80.10%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 desempeño en prueba es muy cercano al de validación: el modelo generaliza.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Riesgos y limitaciones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08792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R01 fuga: partición por hash y subconjunto sin vecino cercano; se reporta el efecto (pequeño).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R04 arquitecturas inestables: 2 arquitecturas y 3 semillas.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R05 modelo pesado: backend local con ONNX en CPU (no en el navegador).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R09 atajo por procedencia: resultados por plano y tipo de archivo.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El glioma es la clase más difícil; un solo dataset y una sola secuencia (T1 con contraste).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Es una demostración académica de apoyo al diagnóstico; no es un diagnóstico y no usa datos reales.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Presentación final (Sprint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5394960" cy="3931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5394960" cy="6400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5597"/>
                </a:solidFill>
                <a:latin typeface="Calibri"/>
              </a:rPr>
              <a:t>CONCLUSIONES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493776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3238"/>
                </a:solidFill>
                <a:latin typeface="Calibri"/>
              </a:rPr>
              <a:t>Las tres metas del acta se cumplen en la prueba oficial (accuracy 99.10%, IoU 80.10%).
El modelo se desplegó en un prototipo de apoyo al diagnóstico funcional, reproducible y versionado.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212080" cy="3931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212080" cy="6400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8C6A"/>
                </a:solidFill>
                <a:latin typeface="Calibri"/>
              </a:rPr>
              <a:t>TRABAJO FUTURO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04288"/>
            <a:ext cx="475488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3238"/>
                </a:solidFill>
                <a:latin typeface="Calibri"/>
              </a:rPr>
              <a:t>Mejorar el glioma (más datos o pérdidas específicas).
Validar con otros datasets y escáneres.
Modelo multitarea con encoder compartido.
MLOps más completo (reentrenamiento ante deriva).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Gracias.  Demostración académica · Apoyo al diagnóstico, no es un diagnóstico médico.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