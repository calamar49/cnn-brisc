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5597"/>
                </a:solidFill>
                <a:latin typeface="Calibri"/>
              </a:rPr>
              <a:t>REVISIÓN DEL SPRINT 2 · 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987552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3864"/>
                </a:solidFill>
                <a:latin typeface="Calibri"/>
              </a:rPr>
              <a:t>Desarrollo de un Sistema Inteligente para clasificar y segmentar tumores cerebrales en resonancias magnéticas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9875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B7280"/>
                </a:solidFill>
                <a:latin typeface="Calibri"/>
              </a:rPr>
              <a:t>desplegado en una aplicación web de apoyo académico (demostración académica)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463040" cy="36576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8620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Proyecto académico de Redes Neuronales · Ingeniería de Sistemas – Inteligencia 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10058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Coavoy Cruz Joseph Gabriel · Cuchuyrrumi Mamani Manuel Rodrigo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3238"/>
                </a:solidFill>
                <a:latin typeface="Calibri"/>
              </a:rPr>
              <a:t>Huallpatuiro Rafaile Brayan · Mamani Acuña Frank Joseph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Docente revisor: Ing. Hugo Espetia Huamanga  ·  23 de octubre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62356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HU05 · Arquitectura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562356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HU06–HU07 · Entrenamiento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623560"/>
            <a:ext cx="3429000" cy="292608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HU08–HU09 · Ajuste y registro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Fase CRISP-ML(Q): Modelado  ·  Sprint 2 (10–22 oct de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65506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Meta del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8424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HU05 a HU09 · fase de modelado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43230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HU05 — Arquitectura y modelo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76148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Clasificador (2 candidatas) y U-Net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20954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HU06 y HU07 — Entrenamiento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53872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Clasificador de tipo de tumor y segmentación U-Net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98678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HU08 — Ajuste de hiperparámetros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31596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3 configuraciones extra frente al modelo base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76402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HU09 — Registro de experimentos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509320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13 entrenamientos en experimentos.csv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541264"/>
            <a:ext cx="94183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3864"/>
                </a:solidFill>
                <a:latin typeface="Calibri"/>
              </a:rPr>
              <a:t>Resultados, riesgo R09, decisiones y plan del Sprint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5870448"/>
            <a:ext cx="9418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Cierre de la revisión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SPRINT 2 · 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Meta del Sprint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035040" cy="4114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63238"/>
                </a:solidFill>
                <a:latin typeface="Calibri"/>
              </a:rPr>
              <a:t>Entrenar y comparar los modelos de clasificación y segmentación del proyecto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63238"/>
                </a:solidFill>
                <a:latin typeface="Calibri"/>
              </a:rPr>
              <a:t>Historias HU05 a HU09 · fecha de esta presentación (HU10): 23 de octubre de 2026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63238"/>
                </a:solidFill>
                <a:latin typeface="Calibri"/>
              </a:rPr>
              <a:t>Fase de CRISP-ML(Q): Modelado (después de negocio, datos y preparación de datos del Sprint 1)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263238"/>
                </a:solidFill>
                <a:latin typeface="Calibri"/>
              </a:rPr>
              <a:t>La prueba oficial (1.000 imágenes) no se usa para elegir nada: se evalúa una sola vez en el Sprint 3 (HU12)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737360"/>
            <a:ext cx="4416552" cy="4206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874519"/>
            <a:ext cx="3931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HISTORIAS DEL SPRINT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377440"/>
            <a:ext cx="64008" cy="59436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377440"/>
            <a:ext cx="12801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HU05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77440"/>
            <a:ext cx="26517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Arquitectura y modelo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246120"/>
            <a:ext cx="64008" cy="5943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3246120"/>
            <a:ext cx="12801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HU06 / HU07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246120"/>
            <a:ext cx="26517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Clasificador y U-Net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64008" cy="59436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4114800"/>
            <a:ext cx="12801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HU08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114800"/>
            <a:ext cx="26517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Ajuste de hiperparámetros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4983479"/>
            <a:ext cx="64008" cy="5943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4983479"/>
            <a:ext cx="12801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Calibri"/>
              </a:rPr>
              <a:t>HU09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983479"/>
            <a:ext cx="26517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Registro de experimentos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715000"/>
            <a:ext cx="3931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La evaluación final es en el Sprint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HU05 ·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2B7A8B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3864"/>
                </a:solidFill>
                <a:latin typeface="Calibri"/>
              </a:rPr>
              <a:t>Selección de arquitectura y modelo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Historia HU05 · 12–13 oct (plan) · Depende de HU03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10972" cy="530352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8892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QUÉ SE HIZO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931152" cy="2514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Elegir 2 arquitecturas candidatas de clasificación con transfer learning (pesos de ImageNet): EfficientNetB0 y ResNet50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Definir la arquitectura U-Net (encoder ResNet34) para la segmentación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Entrenar un modelo base de cada tarea con la configuración de partida (semilla 42) y registrar su métrica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58768"/>
            <a:ext cx="54864" cy="105156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ENTREGABLES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33087"/>
            <a:ext cx="6931152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modelos.py (clasificador y U-Net), datos.py, metricas.py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3 checkpoints base en salida_sprint2/ y su fila en experimentos.csv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065775"/>
            <a:ext cx="54864" cy="128016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047488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40095"/>
            <a:ext cx="6931152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EfficientNetB0 base: accuracy 99.5 %, recall medio 99.52 % (validación)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ResNet50 base: accuracy 99.4 %, recall medio 99.38 % (validación)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U-Net base: IoU 79.70 %, Dice 86.73 % (validación)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HU06 · CLASIFICADOR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2F5597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3864"/>
                </a:solidFill>
                <a:latin typeface="Calibri"/>
              </a:rPr>
              <a:t>Entrenar el clasificador de tipo de tumor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Historia HU06 · 14–18 oct (plan) · Depende de HU05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10972" cy="530352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889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QUÉ SE HIZO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931152" cy="2514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Entrenar EfficientNetB0 con la configuración de partida; guardar curva de entrenamiento y validación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Calcular accuracy, recall por clase y matriz de confusión sobre las 1.001 imágenes de validación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Confirmar EfficientNetB0 como arquitectura principal frente a ResNet50 (mejor recall medio desde el modelo base)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58768"/>
            <a:ext cx="54864" cy="10515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ENTREGABLES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33087"/>
            <a:ext cx="6931152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Checkpoint y curva en salida_sprint2/ · fila en experimentos.csv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065775"/>
            <a:ext cx="54864" cy="12801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047488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40095"/>
            <a:ext cx="6931152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Recall medio 99.52 % (modelo base, semilla 42)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Recall por clase (base): glioma 99.57 %, meningioma 98.87 %, hipófisis 99.66 %, sin tumor 100.00 %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Joseph Coavoy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HU06 · CLASIFICADOR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Curva de entrenamiento y matriz de confusión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pic>
        <p:nvPicPr>
          <p:cNvPr id="10" name="Picture 9" descr="curva_clasific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858000" cy="2618340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pic>
        <p:nvPicPr>
          <p:cNvPr id="11" name="Picture 10" descr="matriz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600200"/>
            <a:ext cx="3017520" cy="2542249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4297680"/>
            <a:ext cx="10908792" cy="1920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La curva y la matriz corresponden a la configuración ganadora de HU08 (batch=64); el modelo base (batch=32) tuvo un recall muy similar: 99.52 %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Configuración elegida (batch=64): accuracy 99.60 % (997 de 1.001 bien clasificadas), recall medio 99.62 %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Recall por clase (elegida): glioma 99.57 %, meningioma 99.25 %, hipófisis 99.66 %, sin tumor 100.00 %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HU07 · SEGMENTACIÓN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5E8C6A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3864"/>
                </a:solidFill>
                <a:latin typeface="Calibri"/>
              </a:rPr>
              <a:t>Entrenar el modelo de segmentación U-Net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Historia HU07 · 14–18 oct (plan) · Depende de HU05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10972" cy="530352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8892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8C6A"/>
                </a:solidFill>
                <a:latin typeface="Calibri"/>
              </a:rPr>
              <a:t>QUÉ SE HIZO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931152" cy="2514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Entrenar la U-Net (encoder ResNet34) solo con imágenes que tienen máscara (3.146 de entrenamiento)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Pérdida BCE + Dice por el desbalance de tamaño del tumor (0,9–1,7 % de la imagen en mediana)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Medir IoU y Dice en validación (787 imágenes con máscara) y guardar ejemplos de máscara predicha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58768"/>
            <a:ext cx="54864" cy="105156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8C6A"/>
                </a:solidFill>
                <a:latin typeface="Calibri"/>
              </a:rPr>
              <a:t>ENTREGABLES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33087"/>
            <a:ext cx="6931152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Checkpoint y curva en salida_sprint2/ · ejemplos de máscara predicha · fila en experimentos.csv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065775"/>
            <a:ext cx="54864" cy="128016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047488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8C6A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40095"/>
            <a:ext cx="6931152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IoU 79.70 %, Dice 86.73 % (modelo base, semilla 42)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Meta del acta (IoU ≥ 70 %) ya superada desde el modelo 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HU07 · SEGMENTACIÓN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Curva de entrenamiento de la U-Net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curva_u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6766560" cy="2560813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680960" y="1691640"/>
            <a:ext cx="3840480" cy="4206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Curva de la configuración ganadora de HU08 (lr=1e-4); el modelo base (lr=3e-4) llegó a un IoU muy similar: 79.70 %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Configuración elegida (lr=1e-4, semilla 42): IoU 79.78 %, Dice 86.86 %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Entrenada solo con las 3.146 imágenes de entrenamiento que tienen máscara; sin tumor no entra en la segmentación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8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8,3 % de las máscaras del dataset tiene más de una región (hallazgo del Sprint 1): la U-Net debe poder marcar varias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HU08 · HIPERPARÁMETROS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2B7A8B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3864"/>
                </a:solidFill>
                <a:latin typeface="Calibri"/>
              </a:rPr>
              <a:t>Ajustar hiperparámetros y aumento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Historia HU08 · 19–21 oct (plan) · Depende de HU06, HU07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10972" cy="530352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8892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QUÉ SE HIZO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931152" cy="2514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Probar 3 configuraciones extra por tarea frente al modelo base: tasa de aprendizaje, tamaño de lote y una ablación sin aumento de datos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Medir la mejora en validación frente al modelo base, sin usar la prueba oficial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Repetir el entrenamiento de la configuración ganadora con 2 semillas adicionales (123 y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58768"/>
            <a:ext cx="54864" cy="105156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ENTREGABLES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33087"/>
            <a:ext cx="6931152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7 checkpoints adicionales y sus filas en experimentos.csv (3 configuraciones + 2 semillas, por tarea)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065775"/>
            <a:ext cx="54864" cy="1280160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047488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7A8B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40095"/>
            <a:ext cx="6931152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Clasificador: gana batch=64 (recall medio 99.62 %, +0.10 pp vs. base)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U-Net: gana lr=1e-4 (IoU 79.78 %, +0.08 pp vs. base)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El aumento de datos ayuda en ambas tareas: quitarlo empeora el resultado en los dos casos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HU08 · HIPERPARÁMETROS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Comparación de configuraciones (validación)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Manuel Cuchuyrrumi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10" name="Picture 9" descr="hu08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058400" cy="3594924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5486400"/>
            <a:ext cx="10908792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7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263238"/>
                </a:solidFill>
                <a:latin typeface="Calibri"/>
              </a:rPr>
              <a:t>En la U-Net, batch=16 dio 80,09 % de IoU a una sola semilla, apenas por encima de lr=1e-4 (79,78 %): una diferencia dentro del margen de variación entre semillas (~0,3 pp, ver diapositiva de resultados)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7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263238"/>
                </a:solidFill>
                <a:latin typeface="Calibri"/>
              </a:rPr>
              <a:t>Se mantuvo lr=1e-4 como configuración elegida porque ya tenía las 3 semillas corridas; no se repitió batch=16 para no duplicar cómputo por una diferencia no concluyente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HU09 · EXPERIMENTOS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292608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2F5597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3864"/>
                </a:solidFill>
                <a:latin typeface="Calibri"/>
              </a:rPr>
              <a:t>Registrar y comparar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310896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Historia HU09 · 21–22 oct (plan) · Depende de HU08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80" y="914400"/>
            <a:ext cx="10972" cy="5303520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914400"/>
            <a:ext cx="54864" cy="278892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896112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QUÉ SE HIZO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6931152" cy="2514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Registrar cada entrenamiento (clasificador y U-Net) en experimentos.csv: configuración, métricas y tiempo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Comparar configuraciones y elegir los modelos finales con base en la validación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Incluir la tabla completa en el informe del Sprint 2 (herramientas/informe_sprint2.docx)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58768"/>
            <a:ext cx="54864" cy="10515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ENTREGABLES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33087"/>
            <a:ext cx="6931152" cy="7772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experimentos.csv con 13 filas · tabla completa en el informe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065775"/>
            <a:ext cx="54864" cy="128016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047488"/>
            <a:ext cx="69768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5597"/>
                </a:solidFill>
                <a:latin typeface="Calibri"/>
              </a:rPr>
              <a:t>RESULTADO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340095"/>
            <a:ext cx="6931152" cy="100583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13 entrenamientos completos registrados; 149.7 minutos de cómputo en GPU en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HU09 · EXPERIMENTOS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Las 13 corridas registradas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91640"/>
          <a:ext cx="10908792" cy="28346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1920240"/>
                <a:gridCol w="1737360"/>
                <a:gridCol w="587959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Historia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Entrenamientos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Tiempo de GPU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Qué se probó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3238"/>
                          </a:solidFill>
                          <a:latin typeface="Calibri"/>
                        </a:rPr>
                        <a:t>HU06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15.5 min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2 arquitecturas candidatas (EfficientNetB0, ResNet50)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3238"/>
                          </a:solidFill>
                          <a:latin typeface="Calibri"/>
                        </a:rPr>
                        <a:t>HU07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18.7 min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U-Net ResNet34, modelo base de segmentación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3238"/>
                          </a:solidFill>
                          <a:latin typeface="Calibri"/>
                        </a:rPr>
                        <a:t>HU08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115.5 min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lr, batch, ablación sin aumento y 2 semillas adicionales (clasificador y U-Net)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26323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149.7 min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4343400"/>
            <a:ext cx="10908792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263238"/>
                </a:solidFill>
                <a:latin typeface="Calibri"/>
              </a:rPr>
              <a:t>Entorno real de entrenamiento: Windows 11, Python 3.12.8, GPU NVIDIA RTX 5060 Laptop (8 GB), torch 2.11.0+cu128 (README de Sprint 2 - Entrenamiento)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2F5597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263238"/>
                </a:solidFill>
                <a:latin typeface="Calibri"/>
              </a:rPr>
              <a:t>Reproducible: semilla fija por corrida, configuración y checkpoint guardados en salida_sprint2/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Resultados finales en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64008" cy="160020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91639"/>
            <a:ext cx="4937759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3864"/>
                </a:solidFill>
                <a:latin typeface="Calibri"/>
              </a:rPr>
              <a:t>99.57 % ± 0.12 %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493775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Recall medio — clasificador EfficientNetB0 (batch=64), promedio de 3 semillas (42, 123,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554480"/>
            <a:ext cx="5303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554480"/>
            <a:ext cx="64008" cy="1600200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691639"/>
            <a:ext cx="4937759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3864"/>
                </a:solidFill>
                <a:latin typeface="Calibri"/>
              </a:rPr>
              <a:t>80.12 % ± 0.27 %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68880"/>
            <a:ext cx="493775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IoU — U-Net ResNet34 (lr=1e-4), promedio de 3 semillas (42, 123, 2024)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429000"/>
          <a:ext cx="10908792" cy="2514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1828800"/>
                <a:gridCol w="1828800"/>
                <a:gridCol w="2404872"/>
                <a:gridCol w="15544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Métrica (validación)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Base (semilla 42)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Config. final — prom. 3 semillas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Meta del acta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3238"/>
                          </a:solidFill>
                          <a:latin typeface="Calibri"/>
                        </a:rPr>
                        <a:t>Clasificador EfficientNetB0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Recall medio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99.52 %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99.57 % ± 0.12 %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≥ 90 % por clase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3238"/>
                          </a:solidFill>
                          <a:latin typeface="Calibri"/>
                        </a:rPr>
                        <a:t>Clasificador EfficientNetB0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99.5 %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no promediada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≥ 95 %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3238"/>
                          </a:solidFill>
                          <a:latin typeface="Calibri"/>
                        </a:rPr>
                        <a:t>U-Net ResNet34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IoU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79.70 %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80.12 % ± 0.27 %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≥ 70 % (solo con tumor)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263238"/>
                          </a:solidFill>
                          <a:latin typeface="Calibri"/>
                        </a:rPr>
                        <a:t>U-Net ResNet34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Dice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86.73 %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no promediada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2632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080" y="6080760"/>
            <a:ext cx="109087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280"/>
                </a:solidFill>
                <a:latin typeface="Calibri"/>
              </a:rPr>
              <a:t>Segunda arquitectura candidata: ResNet50 — accuracy 99.4 %, recall medio 99.38 % (base); no se llevó a 3 semillas.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RIESGO R09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Riesgo R09 — Atajo por procedencia de la imagen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Brayan Huallpatuiro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pic>
        <p:nvPicPr>
          <p:cNvPr id="10" name="Picture 9" descr="r09_desg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08760"/>
            <a:ext cx="9052560" cy="3361339"/>
          </a:xfrm>
          <a:prstGeom prst="rect">
            <a:avLst/>
          </a:prstGeom>
          <a:ln w="9525">
            <a:solidFill>
              <a:srgbClr val="D5DBE5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0080" y="4892040"/>
            <a:ext cx="10908792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263238"/>
                </a:solidFill>
                <a:latin typeface="Calibri"/>
              </a:rPr>
              <a:t>Clasificador: sin diferencias relevantes por plano (axial 99,38 %, coronal 99,70 %, sagital 99,71 %); por tipo de archivo: gris 99,37 %, RGB 99,81 %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263238"/>
                </a:solidFill>
                <a:latin typeface="Calibri"/>
              </a:rPr>
              <a:t>U-Net: el glioma es la clase más difícil de segmentar (IoU 67,43 %, frente a 80,07 % hipófisis y 90,12 % meningioma); brecha gris/RGB de ~8 puntos (76,50 % vs. 84,83 %)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263238"/>
                </a:solidFill>
                <a:latin typeface="Calibri"/>
              </a:rPr>
              <a:t>Como el 88 % de las imágenes de glioma son en escala de grises (hallazgo del Sprint 1), esa brecha se explica en buena parte por la dificultad propia del glioma y no (solo) por un atajo de procedencia; queda pendiente repetir este análisis sobre la prueba oficial en HU12 (Sprint 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2B7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Modelos elegidos para el Sprint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5303520" cy="2743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5303520" cy="64008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5597"/>
                </a:solidFill>
                <a:latin typeface="Calibri"/>
              </a:rPr>
              <a:t>CLASIFICADOR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475488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63238"/>
                </a:solidFill>
                <a:latin typeface="Calibri"/>
              </a:rPr>
              <a:t>EfficientNetB0 (batch=64, lr=3e-4, con aumento de datos).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63238"/>
                </a:solidFill>
                <a:latin typeface="Calibri"/>
              </a:rPr>
              <a:t>Recall medio promedio en 3 semillas: 99.57 % ± 0.12 %, por encima de la meta (≥ 90 % por clase).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691640"/>
            <a:ext cx="5303520" cy="2743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691640"/>
            <a:ext cx="5303520" cy="6400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892808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8C6A"/>
                </a:solidFill>
                <a:latin typeface="Calibri"/>
              </a:rPr>
              <a:t>SEGMENTACIÓN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258568"/>
            <a:ext cx="4754880" cy="2011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63238"/>
                </a:solidFill>
                <a:latin typeface="Calibri"/>
              </a:rPr>
              <a:t>U-Net con encoder ResNet34 (lr=1e-4, con aumento de datos).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263238"/>
                </a:solidFill>
                <a:latin typeface="Calibri"/>
              </a:rPr>
              <a:t>IoU promedio en 3 semillas: 80.12 % ± 0.27 %, por encima de la meta (≥ 70 %).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908792" cy="1645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Elegidos solo con datos de validación; la prueba oficial no se usó para decidir nada (se evalúa una sola vez en HU12)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ResNet50 no se llevó a 3 semillas: su recall medio base ya era menor desde el inicio (99.38 % frente a 99.52 %)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800" b="0" i="0">
                <a:solidFill>
                  <a:srgbClr val="2B7A8B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63238"/>
                </a:solidFill>
                <a:latin typeface="Calibri"/>
              </a:rPr>
              <a:t>batch=16 en la U-Net (80,09 % a una sola semilla) quedó dentro del margen de variación entre semillas frente a lr=1e-4; se mantuvo lr=1e-4 por ya tener las 3 semillas corridas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Riesgos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45920"/>
          <a:ext cx="1090879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4663440"/>
                <a:gridCol w="359359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Qué hacer (Registro de Riesgos)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Estado en el Sprint 2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3238"/>
                          </a:solidFill>
                          <a:latin typeface="Calibri"/>
                        </a:rPr>
                        <a:t>R01 · Fuga entre pacientes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Usar solo la partición propia; agrupar por grupo_hash; avisar de las 113–123 imágenes de prueba parecidas al entrenamiento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Partición sin cambios; pendiente de aplicar en HU12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3238"/>
                          </a:solidFill>
                          <a:latin typeface="Calibri"/>
                        </a:rPr>
                        <a:t>R04 · Arquitecturas inestables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Partir de EfficientNetB0 / ResNet50 y repetir con 2–3 semillas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Hecho: variación baja entre semillas (≤ 0.27 pp)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3238"/>
                          </a:solidFill>
                          <a:latin typeface="Calibri"/>
                        </a:rPr>
                        <a:t>R05 · Modelo pesado para el navegador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Preferir modelos livianos o cuantizados (ONNX)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Por decidir en el Sprint 3 (HU13)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3238"/>
                          </a:solidFill>
                          <a:latin typeface="Calibri"/>
                        </a:rPr>
                        <a:t>R06 · Memoria de GPU / sobreajuste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Precisión mixta, lote pequeño, parada temprana; Colab de respaldo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Entrenado con GPU de 8 GB (RTX 5060 Laptop); sin problemas de memoria reportados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4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3238"/>
                          </a:solidFill>
                          <a:latin typeface="Calibri"/>
                        </a:rPr>
                        <a:t>R09 · Atajo por procedencia (propuesto)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Normalizar intensidad, aumentar brillo/contraste; reportar por plano y tipo de archivo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3238"/>
                          </a:solidFill>
                          <a:latin typeface="Calibri"/>
                        </a:rPr>
                        <a:t>Investigado con datos reales (evaluar_grupos.py): ver diapositiva anterior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5DB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5E8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PRÓXIMO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Plan del Sprint 3 (24–29 de octubre de 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10908792" cy="4480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HU12 — Evaluación única en la prueba oficial (1.000 imágenes, una sola vez, sin usarla para elegir nada)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HU13 — Aplicación web con el modelo exportado (riesgo R05: tamaño del modelo en el navegador)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HU14 — MLOps básico: versionado y registro de métricas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HU15 — Informe final del proyecto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HU16 — Exposición y ensayo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Presentación final: 30 de octubre · margen: 31 de octubre · fecha límite: 2 de noviembre de 2026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000" b="0" i="0">
                <a:solidFill>
                  <a:srgbClr val="5E8C6A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263238"/>
                </a:solidFill>
                <a:latin typeface="Calibri"/>
              </a:rPr>
              <a:t>Si falta tiempo, se recorta primero HU11 (modelo multitarea, opcional) y el reentrenamiento final con las 5.000 imágenes de entrenamiento + validación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918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0879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3864"/>
                </a:solidFill>
                <a:latin typeface="Calibri"/>
              </a:rPr>
              <a:t>Cierre del Sprint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08792" cy="10972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7315"/>
          </a:xfrm>
          <a:prstGeom prst="rect">
            <a:avLst/>
          </a:prstGeom>
          <a:solidFill>
            <a:srgbClr val="D5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Sistema Inteligente: tumores cerebrales en MRI  ·  Revisión del Sprint 2 (modelado)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5375" y="64465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Expone: Frank Mamani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4652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10908792" cy="4572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HU05 a HU09 completas: 2 arquitecturas de clasificación, U-Net de segmentación, ajuste de hiperparámetros y 13 experimentos registrados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Ambos modelos superan las metas del acta (recall ≥ 90 % por clase, IoU ≥ 70 %) solo con datos de validación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Riesgo R09 investigado con datos reales; la brecha gris/RGB de la U-Net se explica más por la dificultad propia del glioma que por un atajo claro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Pendiente (no técnico, a cargo del equipo): backlog del Sprint 2 en Trello/Excel, Informe de Estado, Minuta, Registro de Riesgos (agregar R09) y Retrospectiva del Sprint 2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263238"/>
                </a:solidFill>
                <a:latin typeface="Calibri"/>
              </a:rPr>
              <a:t>Próximo paso: Sprint 3 — evaluación en la prueba oficial, aplicación web y entrega final (2 de noviembre de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