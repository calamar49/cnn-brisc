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822960"/>
            <a:ext cx="1005840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B7A8B"/>
                </a:solidFill>
                <a:latin typeface="Calibri"/>
              </a:rPr>
              <a:t>REUNIÓN DE DEMOSTRACIÓN Y REVISIÓN DEL SPRINT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371600"/>
            <a:ext cx="9875520" cy="20116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1F3864"/>
                </a:solidFill>
                <a:latin typeface="Calibri"/>
              </a:rPr>
              <a:t>Sistema Inteligente para clasificar y segmentar tumores cerebrales en resonancias magnéticas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429000"/>
            <a:ext cx="987552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 i="0">
                <a:solidFill>
                  <a:srgbClr val="6B7280"/>
                </a:solidFill>
                <a:latin typeface="Calibri"/>
              </a:rPr>
              <a:t>desplegado en una aplicación web de apoyo académico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4114800"/>
            <a:ext cx="1463040" cy="36576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297680"/>
            <a:ext cx="1005840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63238"/>
                </a:solidFill>
                <a:latin typeface="Calibri"/>
              </a:rPr>
              <a:t>Proyecto académico de Redes Neuronales · Ingeniería de Sistemas – Inteligencia Artificial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663440"/>
            <a:ext cx="10058400" cy="7315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3238"/>
                </a:solidFill>
                <a:latin typeface="Calibri"/>
              </a:rPr>
              <a:t>Coavoy Cruz Joseph Gabriel · Cuchuyrrumi Mamani Manuel Rodrigo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3238"/>
                </a:solidFill>
                <a:latin typeface="Calibri"/>
              </a:rPr>
              <a:t>Huallpatuiro Rafaile Brayan · Mamani Acuña Frank Joseph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486400"/>
            <a:ext cx="1005840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6B7280"/>
                </a:solidFill>
                <a:latin typeface="Calibri"/>
              </a:rPr>
              <a:t>Docente revisor: Ing. Hugo Espetia Huamanga  ·  12 de octubre de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" y="6035040"/>
            <a:ext cx="2011680" cy="274320"/>
          </a:xfrm>
          <a:prstGeom prst="roundRect">
            <a:avLst>
              <a:gd name="adj" fmla="val 50000"/>
            </a:avLst>
          </a:prstGeom>
          <a:solidFill>
            <a:srgbClr val="2B7A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Etapa 1 · Negocio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54680" y="6035040"/>
            <a:ext cx="2011680" cy="274320"/>
          </a:xfrm>
          <a:prstGeom prst="roundRect">
            <a:avLst>
              <a:gd name="adj" fmla="val 50000"/>
            </a:avLst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Etapa 2 · Datos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03520" y="6035040"/>
            <a:ext cx="2011680" cy="274320"/>
          </a:xfrm>
          <a:prstGeom prst="roundRect">
            <a:avLst>
              <a:gd name="adj" fmla="val 50000"/>
            </a:avLst>
          </a:prstGeom>
          <a:solidFill>
            <a:srgbClr val="5E8C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Etapa 3 · Preparación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11135" y="6053328"/>
            <a:ext cx="38404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1F3864"/>
                </a:solidFill>
                <a:latin typeface="Calibri"/>
              </a:rPr>
              <a:t>Abre la exposición: Joseph Coavoy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4572000" cy="7315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F3864"/>
                </a:solidFill>
                <a:latin typeface="Calibri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0908792" cy="10972"/>
          </a:xfrm>
          <a:prstGeom prst="rect">
            <a:avLst/>
          </a:prstGeom>
          <a:solidFill>
            <a:srgbClr val="D5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1691640"/>
            <a:ext cx="566928" cy="566928"/>
          </a:xfrm>
          <a:prstGeom prst="ellips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73352"/>
            <a:ext cx="8686800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1F3864"/>
                </a:solidFill>
                <a:latin typeface="Calibri"/>
              </a:rPr>
              <a:t>Meta del sprint y el proyecto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020824"/>
            <a:ext cx="8686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B7280"/>
                </a:solidFill>
                <a:latin typeface="Calibri"/>
              </a:rPr>
              <a:t>Antes de las etapas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587752"/>
            <a:ext cx="566928" cy="566928"/>
          </a:xfrm>
          <a:prstGeom prst="ellipse">
            <a:avLst/>
          </a:prstGeom>
          <a:solidFill>
            <a:srgbClr val="2B7A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569464"/>
            <a:ext cx="8686800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1F3864"/>
                </a:solidFill>
                <a:latin typeface="Calibri"/>
              </a:rPr>
              <a:t>Comprensión del negocio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916936"/>
            <a:ext cx="8686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B7280"/>
                </a:solidFill>
                <a:latin typeface="Calibri"/>
              </a:rPr>
              <a:t>HU01 · 1 de octubre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483864"/>
            <a:ext cx="566928" cy="566928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465576"/>
            <a:ext cx="8686800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1F3864"/>
                </a:solidFill>
                <a:latin typeface="Calibri"/>
              </a:rPr>
              <a:t>Comprensión de los datos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3813048"/>
            <a:ext cx="8686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B7280"/>
                </a:solidFill>
                <a:latin typeface="Calibri"/>
              </a:rPr>
              <a:t>HU02 · 2 a 5 de octubre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379976"/>
            <a:ext cx="566928" cy="566928"/>
          </a:xfrm>
          <a:prstGeom prst="ellipse">
            <a:avLst/>
          </a:prstGeom>
          <a:solidFill>
            <a:srgbClr val="5E8C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4361688"/>
            <a:ext cx="8686800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1F3864"/>
                </a:solidFill>
                <a:latin typeface="Calibri"/>
              </a:rPr>
              <a:t>Preparación de los datos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4709160"/>
            <a:ext cx="8686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B7280"/>
                </a:solidFill>
                <a:latin typeface="Calibri"/>
              </a:rPr>
              <a:t>HU03 · 6 a 8 de octubre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5276088"/>
            <a:ext cx="566928" cy="566928"/>
          </a:xfrm>
          <a:prstGeom prst="ellips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5257800"/>
            <a:ext cx="8686800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1F3864"/>
                </a:solidFill>
                <a:latin typeface="Calibri"/>
              </a:rPr>
              <a:t>Cierre: hallazgos, riesgos y plan del Sprint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5605272"/>
            <a:ext cx="8686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B7280"/>
                </a:solidFill>
                <a:latin typeface="Calibri"/>
              </a:rPr>
              <a:t>HU04 · 12 de octubre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00800"/>
            <a:ext cx="10908792" cy="7315"/>
          </a:xfrm>
          <a:prstGeom prst="rect">
            <a:avLst/>
          </a:prstGeom>
          <a:solidFill>
            <a:srgbClr val="D5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Sistema Inteligente: tumores cerebrales en MRI  ·  Revisión del Sprint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45375" y="6446520"/>
            <a:ext cx="3200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1F3864"/>
                </a:solidFill>
                <a:latin typeface="Calibri"/>
              </a:rPr>
              <a:t>Expone: Joseph Coavoy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28655" y="6446520"/>
            <a:ext cx="8229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29184"/>
            <a:ext cx="3566160" cy="274320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SPRINT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08792" cy="6400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3864"/>
                </a:solidFill>
                <a:latin typeface="Calibri"/>
              </a:rPr>
              <a:t>Meta del Sprint 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10908792" cy="10972"/>
          </a:xfrm>
          <a:prstGeom prst="rect">
            <a:avLst/>
          </a:prstGeom>
          <a:solidFill>
            <a:srgbClr val="D5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7315"/>
          </a:xfrm>
          <a:prstGeom prst="rect">
            <a:avLst/>
          </a:prstGeom>
          <a:solidFill>
            <a:srgbClr val="D5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Sistema Inteligente: tumores cerebrales en MRI  ·  Revisión del Sprint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45375" y="6446520"/>
            <a:ext cx="3200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1F3864"/>
                </a:solidFill>
                <a:latin typeface="Calibri"/>
              </a:rPr>
              <a:t>Expone: Joseph Coavoy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46520"/>
            <a:ext cx="8229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37360"/>
            <a:ext cx="6035040" cy="41148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400" b="0" i="0">
                <a:solidFill>
                  <a:srgbClr val="6B7280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63238"/>
                </a:solidFill>
                <a:latin typeface="Calibri"/>
              </a:rPr>
              <a:t>Entender el problema y el dataset BRISC a fondo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400" b="0" i="0">
                <a:solidFill>
                  <a:srgbClr val="6B7280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63238"/>
                </a:solidFill>
                <a:latin typeface="Calibri"/>
              </a:rPr>
              <a:t>Dejar los datos listos y particionados, sin fuga evidente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400" b="0" i="0">
                <a:solidFill>
                  <a:srgbClr val="6B7280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63238"/>
                </a:solidFill>
                <a:latin typeface="Calibri"/>
              </a:rPr>
              <a:t>Metodología híbrida: Scrum + CRISP-ML(Q)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400" b="0" i="0">
                <a:solidFill>
                  <a:srgbClr val="6B7280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63238"/>
                </a:solidFill>
                <a:latin typeface="Calibri"/>
              </a:rPr>
              <a:t>Trabajo del sprint: 1 al 8 de octubre · Presentación: 12 de octubre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0" y="1737360"/>
            <a:ext cx="4416552" cy="420624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874519"/>
            <a:ext cx="393192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B7280"/>
                </a:solidFill>
                <a:latin typeface="Calibri"/>
              </a:rPr>
              <a:t>FASES DE CRISP-ML(Q) DEL SPRINT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423160"/>
            <a:ext cx="64008" cy="731520"/>
          </a:xfrm>
          <a:prstGeom prst="rect">
            <a:avLst/>
          </a:prstGeom>
          <a:solidFill>
            <a:srgbClr val="2B7A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35240" y="2423160"/>
            <a:ext cx="3749039" cy="7315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F3864"/>
                </a:solidFill>
                <a:latin typeface="Calibri"/>
              </a:rPr>
              <a:t>Comprensión del negocio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06640" y="3520439"/>
            <a:ext cx="64008" cy="731520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35240" y="3520439"/>
            <a:ext cx="3749039" cy="7315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F3864"/>
                </a:solidFill>
                <a:latin typeface="Calibri"/>
              </a:rPr>
              <a:t>Comprensión de los datos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4617720"/>
            <a:ext cx="64008" cy="731520"/>
          </a:xfrm>
          <a:prstGeom prst="rect">
            <a:avLst/>
          </a:prstGeom>
          <a:solidFill>
            <a:srgbClr val="5E8C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35240" y="4617720"/>
            <a:ext cx="3749039" cy="7315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F3864"/>
                </a:solidFill>
                <a:latin typeface="Calibri"/>
              </a:rPr>
              <a:t>Preparación de los datos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5486400"/>
            <a:ext cx="39319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6B7280"/>
                </a:solidFill>
                <a:latin typeface="Calibri"/>
              </a:rPr>
              <a:t>El modelado empieza en el Sprint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29184"/>
            <a:ext cx="3566160" cy="274320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SPRINT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08792" cy="6400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3864"/>
                </a:solidFill>
                <a:latin typeface="Calibri"/>
              </a:rPr>
              <a:t>El proyecto: ¿para qué? ¿para dónde?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10908792" cy="10972"/>
          </a:xfrm>
          <a:prstGeom prst="rect">
            <a:avLst/>
          </a:prstGeom>
          <a:solidFill>
            <a:srgbClr val="D5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7315"/>
          </a:xfrm>
          <a:prstGeom prst="rect">
            <a:avLst/>
          </a:prstGeom>
          <a:solidFill>
            <a:srgbClr val="D5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Sistema Inteligente: tumores cerebrales en MRI  ·  Revisión del Sprint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45375" y="6446520"/>
            <a:ext cx="3200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1F3864"/>
                </a:solidFill>
                <a:latin typeface="Calibri"/>
              </a:rPr>
              <a:t>Expone: Joseph Coavoy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46520"/>
            <a:ext cx="8229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4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5330952" cy="329184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1737360"/>
            <a:ext cx="5330952" cy="64008"/>
          </a:xfrm>
          <a:prstGeom prst="rect">
            <a:avLst/>
          </a:prstGeom>
          <a:solidFill>
            <a:srgbClr val="2B7A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19" y="2011680"/>
            <a:ext cx="466344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B7A8B"/>
                </a:solidFill>
                <a:latin typeface="Calibri"/>
              </a:rPr>
              <a:t>¿PARA QUÉ?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19" y="2468880"/>
            <a:ext cx="4663440" cy="2468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263238"/>
                </a:solidFill>
                <a:latin typeface="Calibri"/>
              </a:rPr>
              <a:t>Mostrar, con fines académicos, cómo una red neuronal puede apoyar la interpretación de resonancias magnéticas cerebrales: identifica el tipo de tumor y delimita su contorno.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737360"/>
            <a:ext cx="5330952" cy="329184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737360"/>
            <a:ext cx="5330952" cy="64008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59" y="2011680"/>
            <a:ext cx="466344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F5597"/>
                </a:solidFill>
                <a:latin typeface="Calibri"/>
              </a:rPr>
              <a:t>¿PARA DÓNDE?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59" y="2468880"/>
            <a:ext cx="4663440" cy="2468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263238"/>
                </a:solidFill>
                <a:latin typeface="Calibri"/>
              </a:rPr>
              <a:t>Una aplicación web de demostración donde se sube una MRI y se obtiene la clase, la probabilidad y la máscara del tumor.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349240"/>
            <a:ext cx="10908792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349240"/>
            <a:ext cx="10360152" cy="6400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F3864"/>
                </a:solidFill>
                <a:latin typeface="Calibri"/>
              </a:rPr>
              <a:t>No es una herramienta de diagnóstico: uso académico y de investigación.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29184"/>
            <a:ext cx="3566160" cy="274320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SPRINT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08792" cy="6400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3864"/>
                </a:solidFill>
                <a:latin typeface="Calibri"/>
              </a:rPr>
              <a:t>Las 3 etapas del Sprint 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10908792" cy="10972"/>
          </a:xfrm>
          <a:prstGeom prst="rect">
            <a:avLst/>
          </a:prstGeom>
          <a:solidFill>
            <a:srgbClr val="D5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7315"/>
          </a:xfrm>
          <a:prstGeom prst="rect">
            <a:avLst/>
          </a:prstGeom>
          <a:solidFill>
            <a:srgbClr val="D5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Sistema Inteligente: tumores cerebrales en MRI  ·  Revisión del Sprint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45375" y="6446520"/>
            <a:ext cx="3200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1F3864"/>
                </a:solidFill>
                <a:latin typeface="Calibri"/>
              </a:rPr>
              <a:t>Expone: Joseph Coavoy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46520"/>
            <a:ext cx="8229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737360"/>
          <a:ext cx="10908792" cy="32918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383280"/>
                <a:gridCol w="1097280"/>
                <a:gridCol w="1371600"/>
                <a:gridCol w="2377440"/>
                <a:gridCol w="2679192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Etapa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Historia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Fechas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Entregable principal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63238"/>
                          </a:solidFill>
                          <a:latin typeface="Calibri"/>
                        </a:rPr>
                        <a:t>1 · Comprensión del negocio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Calibri"/>
                        </a:rPr>
                        <a:t>HU01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Calibri"/>
                        </a:rPr>
                        <a:t>1 oct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Calibri"/>
                        </a:rPr>
                        <a:t>Completada (acta firmada)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Calibri"/>
                        </a:rPr>
                        <a:t>Acta, backlog en Trello y Gantt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63238"/>
                          </a:solidFill>
                          <a:latin typeface="Calibri"/>
                        </a:rPr>
                        <a:t>2 · Comprensión de los datos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Calibri"/>
                        </a:rPr>
                        <a:t>HU02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Calibri"/>
                        </a:rPr>
                        <a:t>2 – 5 oct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Calibri"/>
                        </a:rPr>
                        <a:t>Completada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Calibri"/>
                        </a:rPr>
                        <a:t>Notebook, perfil de datos y figuras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4F6F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63238"/>
                          </a:solidFill>
                          <a:latin typeface="Calibri"/>
                        </a:rPr>
                        <a:t>3 · Preparación de los datos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Calibri"/>
                        </a:rPr>
                        <a:t>HU03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Calibri"/>
                        </a:rPr>
                        <a:t>6 – 8 oct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Calibri"/>
                        </a:rPr>
                        <a:t>Completada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Calibri"/>
                        </a:rPr>
                        <a:t>Partición, cargador y scripts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63238"/>
                          </a:solidFill>
                          <a:latin typeface="Calibri"/>
                        </a:rPr>
                        <a:t>Cierre del sprint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Calibri"/>
                        </a:rPr>
                        <a:t>HU04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Calibri"/>
                        </a:rPr>
                        <a:t>12 oct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Calibri"/>
                        </a:rPr>
                        <a:t>Completada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Calibri"/>
                        </a:rPr>
                        <a:t>Esta presentación e informe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5303520"/>
            <a:ext cx="10908792" cy="100584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■  </a:t>
            </a:r>
            <a:r>
              <a:rPr sz="1600" b="0" i="0">
                <a:solidFill>
                  <a:srgbClr val="263238"/>
                </a:solidFill>
                <a:latin typeface="Calibri"/>
              </a:rPr>
              <a:t>Las etapas siguen las fases de CRISP-ML(Q); cada una tiene su historia de usuario en Trello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■  </a:t>
            </a:r>
            <a:r>
              <a:rPr sz="1600" b="0" i="0">
                <a:solidFill>
                  <a:srgbClr val="263238"/>
                </a:solidFill>
                <a:latin typeface="Calibri"/>
              </a:rPr>
              <a:t>En el Sprint 1 no se entrenó ningún modelo: eso es del Sprint 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7A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29184"/>
            <a:ext cx="3566160" cy="274320"/>
          </a:xfrm>
          <a:prstGeom prst="roundRect">
            <a:avLst>
              <a:gd name="adj" fmla="val 50000"/>
            </a:avLst>
          </a:prstGeom>
          <a:solidFill>
            <a:srgbClr val="2B7A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ETAPA 1 · COMPRENSIÓN DEL NEGOCIO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2926080" cy="1554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0" b="1" i="0">
                <a:solidFill>
                  <a:srgbClr val="2B7A8B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14600"/>
            <a:ext cx="3108960" cy="11887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F3864"/>
                </a:solidFill>
                <a:latin typeface="Calibri"/>
              </a:rPr>
              <a:t>Comprensión del negocio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794760"/>
            <a:ext cx="3108960" cy="12801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7280"/>
                </a:solidFill>
                <a:latin typeface="Calibri"/>
              </a:rPr>
              <a:t>Historia HU01 · 1 de octubre · Fase 1 de CRISP-ML(Q)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9080" y="914400"/>
            <a:ext cx="10972" cy="5303520"/>
          </a:xfrm>
          <a:prstGeom prst="rect">
            <a:avLst/>
          </a:prstGeom>
          <a:solidFill>
            <a:srgbClr val="D5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0" y="914400"/>
            <a:ext cx="54864" cy="2788920"/>
          </a:xfrm>
          <a:prstGeom prst="rect">
            <a:avLst/>
          </a:prstGeom>
          <a:solidFill>
            <a:srgbClr val="2B7A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896112"/>
            <a:ext cx="697687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B7A8B"/>
                </a:solidFill>
                <a:latin typeface="Calibri"/>
              </a:rPr>
              <a:t>QUÉ SE HIZO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188720"/>
            <a:ext cx="6931152" cy="2514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800" b="0" i="0">
                <a:solidFill>
                  <a:srgbClr val="2B7A8B"/>
                </a:solidFill>
                <a:latin typeface="Calibri"/>
              </a:rPr>
              <a:t>■  </a:t>
            </a:r>
            <a:r>
              <a:rPr sz="1400" b="0" i="0">
                <a:solidFill>
                  <a:srgbClr val="263238"/>
                </a:solidFill>
                <a:latin typeface="Calibri"/>
              </a:rPr>
              <a:t>Definir el problema (¿para qué? ¿para dónde?) y el alcance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800" b="0" i="0">
                <a:solidFill>
                  <a:srgbClr val="2B7A8B"/>
                </a:solidFill>
                <a:latin typeface="Calibri"/>
              </a:rPr>
              <a:t>■  </a:t>
            </a:r>
            <a:r>
              <a:rPr sz="1400" b="0" i="0">
                <a:solidFill>
                  <a:srgbClr val="263238"/>
                </a:solidFill>
                <a:latin typeface="Calibri"/>
              </a:rPr>
              <a:t>Dimensionar el problema con datos públicos (GLOBOCAN, Minsa, SuSalud)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800" b="0" i="0">
                <a:solidFill>
                  <a:srgbClr val="2B7A8B"/>
                </a:solidFill>
                <a:latin typeface="Calibri"/>
              </a:rPr>
              <a:t>■  </a:t>
            </a:r>
            <a:r>
              <a:rPr sz="1400" b="0" i="0">
                <a:solidFill>
                  <a:srgbClr val="263238"/>
                </a:solidFill>
                <a:latin typeface="Calibri"/>
              </a:rPr>
              <a:t>Identificar a quién va dirigido y revisar el sector privado de salud con datos públicos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800" b="0" i="0">
                <a:solidFill>
                  <a:srgbClr val="2B7A8B"/>
                </a:solidFill>
                <a:latin typeface="Calibri"/>
              </a:rPr>
              <a:t>■  </a:t>
            </a:r>
            <a:r>
              <a:rPr sz="1400" b="0" i="0">
                <a:solidFill>
                  <a:srgbClr val="263238"/>
                </a:solidFill>
                <a:latin typeface="Calibri"/>
              </a:rPr>
              <a:t>Fijar objetivos y metas (accuracy ≥ 95 %, recall ≥ 90 %, IoU ≥ 70 %); evaluar factibilidad y riesgos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800" b="0" i="0">
                <a:solidFill>
                  <a:srgbClr val="2B7A8B"/>
                </a:solidFill>
                <a:latin typeface="Calibri"/>
              </a:rPr>
              <a:t>■  </a:t>
            </a:r>
            <a:r>
              <a:rPr sz="1400" b="0" i="0">
                <a:solidFill>
                  <a:srgbClr val="263238"/>
                </a:solidFill>
                <a:latin typeface="Calibri"/>
              </a:rPr>
              <a:t>Armar el Product Backlog (17 historias), el Gantt y las plantillas de gestión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3858768"/>
            <a:ext cx="54864" cy="1051560"/>
          </a:xfrm>
          <a:prstGeom prst="rect">
            <a:avLst/>
          </a:prstGeom>
          <a:solidFill>
            <a:srgbClr val="2B7A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3840480"/>
            <a:ext cx="697687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B7A8B"/>
                </a:solidFill>
                <a:latin typeface="Calibri"/>
              </a:rPr>
              <a:t>ENTREGABLES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4133087"/>
            <a:ext cx="6931152" cy="777239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800" b="0" i="0">
                <a:solidFill>
                  <a:srgbClr val="2B7A8B"/>
                </a:solidFill>
                <a:latin typeface="Calibri"/>
              </a:rPr>
              <a:t>■  </a:t>
            </a:r>
            <a:r>
              <a:rPr sz="1400" b="0" i="0">
                <a:solidFill>
                  <a:srgbClr val="263238"/>
                </a:solidFill>
                <a:latin typeface="Calibri"/>
              </a:rPr>
              <a:t>Acta de Constitución firmada · Product Backlog en Trello · Gantt y CSV · plantillas de gestión llenas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5065775"/>
            <a:ext cx="54864" cy="1280160"/>
          </a:xfrm>
          <a:prstGeom prst="rect">
            <a:avLst/>
          </a:prstGeom>
          <a:solidFill>
            <a:srgbClr val="2B7A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5047488"/>
            <a:ext cx="697687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B7A8B"/>
                </a:solidFill>
                <a:latin typeface="Calibri"/>
              </a:rPr>
              <a:t>RESULTADO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5340095"/>
            <a:ext cx="6931152" cy="1005839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800" b="0" i="0">
                <a:solidFill>
                  <a:srgbClr val="2B7A8B"/>
                </a:solidFill>
                <a:latin typeface="Calibri"/>
              </a:rPr>
              <a:t>■  </a:t>
            </a:r>
            <a:r>
              <a:rPr sz="1400" b="0" i="0">
                <a:solidFill>
                  <a:srgbClr val="263238"/>
                </a:solidFill>
                <a:latin typeface="Calibri"/>
              </a:rPr>
              <a:t>Proyecto definido y factible con alcance acotado; 8 riesgos registrados; costo programado de S/ 0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800" b="0" i="0">
                <a:solidFill>
                  <a:srgbClr val="2B7A8B"/>
                </a:solidFill>
                <a:latin typeface="Calibri"/>
              </a:rPr>
              <a:t>■  </a:t>
            </a:r>
            <a:r>
              <a:rPr sz="1400" b="0" i="0">
                <a:solidFill>
                  <a:srgbClr val="263238"/>
                </a:solidFill>
                <a:latin typeface="Calibri"/>
              </a:rPr>
              <a:t>Proyecto académico: sin cliente, patrocinador ni Dueño del Producto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00800"/>
            <a:ext cx="10908792" cy="7315"/>
          </a:xfrm>
          <a:prstGeom prst="rect">
            <a:avLst/>
          </a:prstGeom>
          <a:solidFill>
            <a:srgbClr val="D5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Sistema Inteligente: tumores cerebrales en MRI  ·  Revisión del Sprint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45375" y="6446520"/>
            <a:ext cx="3200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1F3864"/>
                </a:solidFill>
                <a:latin typeface="Calibri"/>
              </a:rPr>
              <a:t>Expone: Joseph Coavoy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8655" y="6446520"/>
            <a:ext cx="8229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7A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29184"/>
            <a:ext cx="3566160" cy="274320"/>
          </a:xfrm>
          <a:prstGeom prst="roundRect">
            <a:avLst>
              <a:gd name="adj" fmla="val 50000"/>
            </a:avLst>
          </a:prstGeom>
          <a:solidFill>
            <a:srgbClr val="2B7A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ETAPA 1 · COMPRENSIÓN DEL NEGOCIO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08792" cy="6400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3864"/>
                </a:solidFill>
                <a:latin typeface="Calibri"/>
              </a:rPr>
              <a:t>El problema en cifras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10908792" cy="10972"/>
          </a:xfrm>
          <a:prstGeom prst="rect">
            <a:avLst/>
          </a:prstGeom>
          <a:solidFill>
            <a:srgbClr val="D5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7315"/>
          </a:xfrm>
          <a:prstGeom prst="rect">
            <a:avLst/>
          </a:prstGeom>
          <a:solidFill>
            <a:srgbClr val="D5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Sistema Inteligente: tumores cerebrales en MRI  ·  Revisión del Sprint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45375" y="6446520"/>
            <a:ext cx="3200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1F3864"/>
                </a:solidFill>
                <a:latin typeface="Calibri"/>
              </a:rPr>
              <a:t>Expone: Joseph Coavoy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46520"/>
            <a:ext cx="8229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7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691640"/>
            <a:ext cx="260604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1691640"/>
            <a:ext cx="64008" cy="2148840"/>
          </a:xfrm>
          <a:prstGeom prst="rect">
            <a:avLst/>
          </a:prstGeom>
          <a:solidFill>
            <a:srgbClr val="2B7A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828800"/>
            <a:ext cx="2240280" cy="7315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1F3864"/>
                </a:solidFill>
                <a:latin typeface="Calibri"/>
              </a:rPr>
              <a:t>1.616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606040"/>
            <a:ext cx="2240280" cy="11887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6B7280"/>
                </a:solidFill>
                <a:latin typeface="Calibri"/>
              </a:rPr>
              <a:t>casos nuevos de cáncer de cerebro y sistema nervioso central en Perú (2024)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19856" y="1691640"/>
            <a:ext cx="260604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19856" y="1691640"/>
            <a:ext cx="64008" cy="2148840"/>
          </a:xfrm>
          <a:prstGeom prst="rect">
            <a:avLst/>
          </a:prstGeom>
          <a:solidFill>
            <a:srgbClr val="2B7A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48456" y="1828800"/>
            <a:ext cx="2240280" cy="7315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1F3864"/>
                </a:solidFill>
                <a:latin typeface="Calibri"/>
              </a:rPr>
              <a:t>1.147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48456" y="2606040"/>
            <a:ext cx="2240280" cy="11887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6B7280"/>
                </a:solidFill>
                <a:latin typeface="Calibri"/>
              </a:rPr>
              <a:t>muertes por ese cáncer en Perú (2024)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9632" y="1691640"/>
            <a:ext cx="260604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9632" y="1691640"/>
            <a:ext cx="64008" cy="2148840"/>
          </a:xfrm>
          <a:prstGeom prst="rect">
            <a:avLst/>
          </a:prstGeom>
          <a:solidFill>
            <a:srgbClr val="2B7A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1828800"/>
            <a:ext cx="2240280" cy="7315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1F3864"/>
                </a:solidFill>
                <a:latin typeface="Calibri"/>
              </a:rPr>
              <a:t>495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2606040"/>
            <a:ext cx="2240280" cy="11887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6B7280"/>
                </a:solidFill>
                <a:latin typeface="Calibri"/>
              </a:rPr>
              <a:t>médicos radiólogos en todo el país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79408" y="1691640"/>
            <a:ext cx="260604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79408" y="1691640"/>
            <a:ext cx="64008" cy="2148840"/>
          </a:xfrm>
          <a:prstGeom prst="rect">
            <a:avLst/>
          </a:prstGeom>
          <a:solidFill>
            <a:srgbClr val="2B7A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08008" y="1828800"/>
            <a:ext cx="2240280" cy="7315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1F3864"/>
                </a:solidFill>
                <a:latin typeface="Calibri"/>
              </a:rPr>
              <a:t>54,8 %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08008" y="2606040"/>
            <a:ext cx="2240280" cy="11887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6B7280"/>
                </a:solidFill>
                <a:latin typeface="Calibri"/>
              </a:rPr>
              <a:t>de los radiólogos y tecnólogos médicos están en Lima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114800"/>
            <a:ext cx="10908792" cy="21945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900" b="0" i="0">
                <a:solidFill>
                  <a:srgbClr val="2B7A8B"/>
                </a:solidFill>
                <a:latin typeface="Calibri"/>
              </a:rPr>
              <a:t>■  </a:t>
            </a:r>
            <a:r>
              <a:rPr sz="1500" b="0" i="0">
                <a:solidFill>
                  <a:srgbClr val="263238"/>
                </a:solidFill>
                <a:latin typeface="Calibri"/>
              </a:rPr>
              <a:t>La resonancia magnética es el estudio principal; el radiólogo decide si hay tumor, de qué tipo es y dónde está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900" b="0" i="0">
                <a:solidFill>
                  <a:srgbClr val="2B7A8B"/>
                </a:solidFill>
                <a:latin typeface="Calibri"/>
              </a:rPr>
              <a:t>■  </a:t>
            </a:r>
            <a:r>
              <a:rPr sz="1500" b="0" i="0">
                <a:solidFill>
                  <a:srgbClr val="263238"/>
                </a:solidFill>
                <a:latin typeface="Calibri"/>
              </a:rPr>
              <a:t>Pocos especialistas para toda la población y concentrados en Lima: esa es la motivación; el proyecto no mide ni demuestra una reducción de carga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900" b="0" i="0">
                <a:solidFill>
                  <a:srgbClr val="2B7A8B"/>
                </a:solidFill>
                <a:latin typeface="Calibri"/>
              </a:rPr>
              <a:t>■  </a:t>
            </a:r>
            <a:r>
              <a:rPr sz="1500" b="0" i="0">
                <a:solidFill>
                  <a:srgbClr val="263238"/>
                </a:solidFill>
                <a:latin typeface="Calibri"/>
              </a:rPr>
              <a:t>Fuentes: GLOBOCAN 2024 (IARC) y Observatorio de RR. HH. del Minsa, citado por Panamericana (nov. 2025)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7A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29184"/>
            <a:ext cx="3566160" cy="274320"/>
          </a:xfrm>
          <a:prstGeom prst="roundRect">
            <a:avLst>
              <a:gd name="adj" fmla="val 50000"/>
            </a:avLst>
          </a:prstGeom>
          <a:solidFill>
            <a:srgbClr val="2B7A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ETAPA 1 · COMPRENSIÓN DEL NEGOCIO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08792" cy="6400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3864"/>
                </a:solidFill>
                <a:latin typeface="Calibri"/>
              </a:rPr>
              <a:t>El sector privado de salud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10908792" cy="10972"/>
          </a:xfrm>
          <a:prstGeom prst="rect">
            <a:avLst/>
          </a:prstGeom>
          <a:solidFill>
            <a:srgbClr val="D5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7315"/>
          </a:xfrm>
          <a:prstGeom prst="rect">
            <a:avLst/>
          </a:prstGeom>
          <a:solidFill>
            <a:srgbClr val="D5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Sistema Inteligente: tumores cerebrales en MRI  ·  Revisión del Sprint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45375" y="6446520"/>
            <a:ext cx="3200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1F3864"/>
                </a:solidFill>
                <a:latin typeface="Calibri"/>
              </a:rPr>
              <a:t>Expone: Joseph Coavoy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46520"/>
            <a:ext cx="8229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8</a:t>
            </a:r>
          </a:p>
        </p:txBody>
      </p:sp>
      <p:pic>
        <p:nvPicPr>
          <p:cNvPr id="10" name="Picture 9" descr="sector_priv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807" y="1554480"/>
            <a:ext cx="8412480" cy="3196742"/>
          </a:xfrm>
          <a:prstGeom prst="rect">
            <a:avLst/>
          </a:prstGeom>
          <a:ln w="9525">
            <a:solidFill>
              <a:srgbClr val="D5DBE5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640080" y="4983480"/>
            <a:ext cx="10908792" cy="1371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900" b="0" i="0">
                <a:solidFill>
                  <a:srgbClr val="2B7A8B"/>
                </a:solidFill>
                <a:latin typeface="Calibri"/>
              </a:rPr>
              <a:t>■  </a:t>
            </a:r>
            <a:r>
              <a:rPr sz="1500" b="0" i="0">
                <a:solidFill>
                  <a:srgbClr val="263238"/>
                </a:solidFill>
                <a:latin typeface="Calibri"/>
              </a:rPr>
              <a:t>52 % de los 19.067 establecimientos son privados, casi todos consultorios (9.508); ≈ 312 clínicas y hospitales de 2.º y 3.er nivel (cálculo propio)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900" b="0" i="0">
                <a:solidFill>
                  <a:srgbClr val="2B7A8B"/>
                </a:solidFill>
                <a:latin typeface="Calibri"/>
              </a:rPr>
              <a:t>■  </a:t>
            </a:r>
            <a:r>
              <a:rPr sz="1500" b="0" i="0">
                <a:solidFill>
                  <a:srgbClr val="263238"/>
                </a:solidFill>
                <a:latin typeface="Calibri"/>
              </a:rPr>
              <a:t>Seguro privado: 6,7 % del país y 14,5 % en Lima Metropolitana (2022)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900" b="0" i="0">
                <a:solidFill>
                  <a:srgbClr val="2B7A8B"/>
                </a:solidFill>
                <a:latin typeface="Calibri"/>
              </a:rPr>
              <a:t>■  </a:t>
            </a:r>
            <a:r>
              <a:rPr sz="1500" b="0" i="0">
                <a:solidFill>
                  <a:srgbClr val="263238"/>
                </a:solidFill>
                <a:latin typeface="Calibri"/>
              </a:rPr>
              <a:t>No hay cifras públicas de resonadores privados ni de pacientes por clínica: no se inventaron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7A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29184"/>
            <a:ext cx="3566160" cy="274320"/>
          </a:xfrm>
          <a:prstGeom prst="roundRect">
            <a:avLst>
              <a:gd name="adj" fmla="val 50000"/>
            </a:avLst>
          </a:prstGeom>
          <a:solidFill>
            <a:srgbClr val="2B7A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ETAPA 1 · COMPRENSIÓN DEL NEGOCIO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08792" cy="6400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3864"/>
                </a:solidFill>
                <a:latin typeface="Calibri"/>
              </a:rPr>
              <a:t>¿A quién está dirigido?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10908792" cy="10972"/>
          </a:xfrm>
          <a:prstGeom prst="rect">
            <a:avLst/>
          </a:prstGeom>
          <a:solidFill>
            <a:srgbClr val="D5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7315"/>
          </a:xfrm>
          <a:prstGeom prst="rect">
            <a:avLst/>
          </a:prstGeom>
          <a:solidFill>
            <a:srgbClr val="D5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Sistema Inteligente: tumores cerebrales en MRI  ·  Revisión del Sprint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45375" y="6446520"/>
            <a:ext cx="3200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1F3864"/>
                </a:solidFill>
                <a:latin typeface="Calibri"/>
              </a:rPr>
              <a:t>Expone: Manuel Cuchuyrrumi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46520"/>
            <a:ext cx="8229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9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91640"/>
          <a:ext cx="10908792" cy="23317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566160"/>
                <a:gridCol w="3840480"/>
                <a:gridCol w="3502152"/>
              </a:tblGrid>
              <a:tr h="77724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Grupo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Relación con el proyecto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Qué necesita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263238"/>
                          </a:solidFill>
                          <a:latin typeface="Calibri"/>
                        </a:rPr>
                        <a:t>Equipo del proyecto (4 integrantes)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8"/>
                          </a:solidFill>
                          <a:latin typeface="Calibri"/>
                        </a:rPr>
                        <a:t>Usuario real de la demostración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8"/>
                          </a:solidFill>
                          <a:latin typeface="Calibri"/>
                        </a:rPr>
                        <a:t>Aprender y demostrar un sistema de IA de punta a punta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263238"/>
                          </a:solidFill>
                          <a:latin typeface="Calibri"/>
                        </a:rPr>
                        <a:t>Docente revisor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8"/>
                          </a:solidFill>
                          <a:latin typeface="Calibri"/>
                        </a:rPr>
                        <a:t>Evalúa el proyecto en cada sprint; no es patrocinador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8"/>
                          </a:solidFill>
                          <a:latin typeface="Calibri"/>
                        </a:rPr>
                        <a:t>Evidencia del proceso y resultados medidos con rigor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4389120"/>
            <a:ext cx="10908792" cy="192024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200" b="0" i="0">
                <a:solidFill>
                  <a:srgbClr val="2B7A8B"/>
                </a:solidFill>
                <a:latin typeface="Calibri"/>
              </a:rPr>
              <a:t>■  </a:t>
            </a:r>
            <a:r>
              <a:rPr sz="1800" b="0" i="0">
                <a:solidFill>
                  <a:srgbClr val="263238"/>
                </a:solidFill>
                <a:latin typeface="Calibri"/>
              </a:rPr>
              <a:t>Proyecto académico: no tiene cliente, patrocinador ni Dueño del Producto; el equipo define y prioriza el backlog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200" b="0" i="0">
                <a:solidFill>
                  <a:srgbClr val="2B7A8B"/>
                </a:solidFill>
                <a:latin typeface="Calibri"/>
              </a:rPr>
              <a:t>■  </a:t>
            </a:r>
            <a:r>
              <a:rPr sz="1800" b="0" i="0">
                <a:solidFill>
                  <a:srgbClr val="263238"/>
                </a:solidFill>
                <a:latin typeface="Calibri"/>
              </a:rPr>
              <a:t>Uso académico y de investigación, con imágenes T1 con contraste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200" b="0" i="0">
                <a:solidFill>
                  <a:srgbClr val="2B7A8B"/>
                </a:solidFill>
                <a:latin typeface="Calibri"/>
              </a:rPr>
              <a:t>■  </a:t>
            </a:r>
            <a:r>
              <a:rPr sz="1800" b="0" i="0">
                <a:solidFill>
                  <a:srgbClr val="263238"/>
                </a:solidFill>
                <a:latin typeface="Calibri"/>
              </a:rPr>
              <a:t>No es una herramienta de diagnóstico y no se usa con pacientes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7A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29184"/>
            <a:ext cx="3566160" cy="274320"/>
          </a:xfrm>
          <a:prstGeom prst="roundRect">
            <a:avLst>
              <a:gd name="adj" fmla="val 50000"/>
            </a:avLst>
          </a:prstGeom>
          <a:solidFill>
            <a:srgbClr val="2B7A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ETAPA 1 · COMPRENSIÓN DEL NEGOCIO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08792" cy="6400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3864"/>
                </a:solidFill>
                <a:latin typeface="Calibri"/>
              </a:rPr>
              <a:t>Objetivos, metas y factibilidad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10908792" cy="10972"/>
          </a:xfrm>
          <a:prstGeom prst="rect">
            <a:avLst/>
          </a:prstGeom>
          <a:solidFill>
            <a:srgbClr val="D5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7315"/>
          </a:xfrm>
          <a:prstGeom prst="rect">
            <a:avLst/>
          </a:prstGeom>
          <a:solidFill>
            <a:srgbClr val="D5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Sistema Inteligente: tumores cerebrales en MRI  ·  Revisión del Sprint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45375" y="6446520"/>
            <a:ext cx="3200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1F3864"/>
                </a:solidFill>
                <a:latin typeface="Calibri"/>
              </a:rPr>
              <a:t>Expone: Manuel Cuchuyrrumi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46520"/>
            <a:ext cx="8229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10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45920"/>
          <a:ext cx="10908792" cy="28346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103120"/>
                <a:gridCol w="4297680"/>
                <a:gridCol w="4507992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Nivel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Objetivo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Criterio de éxito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263238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Calibri"/>
                        </a:rPr>
                        <a:t>Sistema de IA de punta a punta con Scrum + CRISP-ML(Q)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Calibri"/>
                        </a:rPr>
                        <a:t>3 presentaciones (12, 23 y 30 oct) y entrega antes del 2 nov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263238"/>
                          </a:solidFill>
                          <a:latin typeface="Calibri"/>
                        </a:rPr>
                        <a:t>Demostración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Calibri"/>
                        </a:rPr>
                        <a:t>App web: clase, probabilidad y máscara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Calibri"/>
                        </a:rPr>
                        <a:t>Demo funcional con modelos exportados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4F6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263238"/>
                          </a:solidFill>
                          <a:latin typeface="Calibri"/>
                        </a:rPr>
                        <a:t>Clasificación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Calibri"/>
                        </a:rPr>
                        <a:t>4 clases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Calibri"/>
                        </a:rPr>
                        <a:t>Accuracy ≥ 95 % y recall ≥ 90 % por clase (prueba oficial)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263238"/>
                          </a:solidFill>
                          <a:latin typeface="Calibri"/>
                        </a:rPr>
                        <a:t>Segmentación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Calibri"/>
                        </a:rPr>
                        <a:t>Contorno del tumor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Calibri"/>
                        </a:rPr>
                        <a:t>IoU ≥ 70 % (prueba oficial, solo con tumor)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4754880"/>
            <a:ext cx="10908792" cy="155448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2B7A8B"/>
                </a:solidFill>
                <a:latin typeface="Calibri"/>
              </a:rPr>
              <a:t>■  </a:t>
            </a:r>
            <a:r>
              <a:rPr sz="1600" b="0" i="0">
                <a:solidFill>
                  <a:srgbClr val="263238"/>
                </a:solidFill>
                <a:latin typeface="Calibri"/>
              </a:rPr>
              <a:t>Metas propuestas por el equipo con referencia al artículo (no son resultados propios); aún no se evaluaron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2B7A8B"/>
                </a:solidFill>
                <a:latin typeface="Calibri"/>
              </a:rPr>
              <a:t>■  </a:t>
            </a:r>
            <a:r>
              <a:rPr sz="1600" b="0" i="0">
                <a:solidFill>
                  <a:srgbClr val="263238"/>
                </a:solidFill>
                <a:latin typeface="Calibri"/>
              </a:rPr>
              <a:t>Factible con alcance acotado: datos suficientes, GPU local de 6 GB, 33 días y modelo multitarea opcional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2B7A8B"/>
                </a:solidFill>
                <a:latin typeface="Calibri"/>
              </a:rPr>
              <a:t>■  </a:t>
            </a:r>
            <a:r>
              <a:rPr sz="1600" b="0" i="0">
                <a:solidFill>
                  <a:srgbClr val="263238"/>
                </a:solidFill>
                <a:latin typeface="Calibri"/>
              </a:rPr>
              <a:t>Costo programado: S/ 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29184"/>
            <a:ext cx="3566160" cy="274320"/>
          </a:xfrm>
          <a:prstGeom prst="roundRect">
            <a:avLst>
              <a:gd name="adj" fmla="val 50000"/>
            </a:avLst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ETAPA 2 · COMPRENSIÓN DE LOS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2926080" cy="1554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0" b="1" i="0">
                <a:solidFill>
                  <a:srgbClr val="2F5597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14600"/>
            <a:ext cx="3108960" cy="11887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F3864"/>
                </a:solidFill>
                <a:latin typeface="Calibri"/>
              </a:rPr>
              <a:t>Comprensión de los datos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794760"/>
            <a:ext cx="3108960" cy="12801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7280"/>
                </a:solidFill>
                <a:latin typeface="Calibri"/>
              </a:rPr>
              <a:t>Historia HU02 · 2 a 5 de octubre · Fase 2 de CRISP-ML(Q)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9080" y="914400"/>
            <a:ext cx="10972" cy="5303520"/>
          </a:xfrm>
          <a:prstGeom prst="rect">
            <a:avLst/>
          </a:prstGeom>
          <a:solidFill>
            <a:srgbClr val="D5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0" y="914400"/>
            <a:ext cx="54864" cy="2788920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896112"/>
            <a:ext cx="697687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F5597"/>
                </a:solidFill>
                <a:latin typeface="Calibri"/>
              </a:rPr>
              <a:t>QUÉ SE HIZO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188720"/>
            <a:ext cx="6931152" cy="2514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800" b="0" i="0">
                <a:solidFill>
                  <a:srgbClr val="2F5597"/>
                </a:solidFill>
                <a:latin typeface="Calibri"/>
              </a:rPr>
              <a:t>■  </a:t>
            </a:r>
            <a:r>
              <a:rPr sz="1400" b="0" i="0">
                <a:solidFill>
                  <a:srgbClr val="263238"/>
                </a:solidFill>
                <a:latin typeface="Calibri"/>
              </a:rPr>
              <a:t>Descargar BRISC 2025 y verificar su estructura, el manifest y la licencia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800" b="0" i="0">
                <a:solidFill>
                  <a:srgbClr val="2F5597"/>
                </a:solidFill>
                <a:latin typeface="Calibri"/>
              </a:rPr>
              <a:t>■  </a:t>
            </a:r>
            <a:r>
              <a:rPr sz="1400" b="0" i="0">
                <a:solidFill>
                  <a:srgbClr val="263238"/>
                </a:solidFill>
                <a:latin typeface="Calibri"/>
              </a:rPr>
              <a:t>Contar imágenes por clase, partición y plano de corte, y compararlas con el artículo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800" b="0" i="0">
                <a:solidFill>
                  <a:srgbClr val="2F5597"/>
                </a:solidFill>
                <a:latin typeface="Calibri"/>
              </a:rPr>
              <a:t>■  </a:t>
            </a:r>
            <a:r>
              <a:rPr sz="1400" b="0" i="0">
                <a:solidFill>
                  <a:srgbClr val="263238"/>
                </a:solidFill>
                <a:latin typeface="Calibri"/>
              </a:rPr>
              <a:t>Analizar las máscaras, los tamaños de imagen y los duplicados exactos (SHA-256)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800" b="0" i="0">
                <a:solidFill>
                  <a:srgbClr val="2F5597"/>
                </a:solidFill>
                <a:latin typeface="Calibri"/>
              </a:rPr>
              <a:t>■  </a:t>
            </a:r>
            <a:r>
              <a:rPr sz="1400" b="0" i="0">
                <a:solidFill>
                  <a:srgbClr val="263238"/>
                </a:solidFill>
                <a:latin typeface="Calibri"/>
              </a:rPr>
              <a:t>Perfilar el contenido: brillo, encuadre, ubicación, tamaño, regiones y contraste del tumor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800" b="0" i="0">
                <a:solidFill>
                  <a:srgbClr val="2F5597"/>
                </a:solidFill>
                <a:latin typeface="Calibri"/>
              </a:rPr>
              <a:t>■  </a:t>
            </a:r>
            <a:r>
              <a:rPr sz="1400" b="0" i="0">
                <a:solidFill>
                  <a:srgbClr val="263238"/>
                </a:solidFill>
                <a:latin typeface="Calibri"/>
              </a:rPr>
              <a:t>Comparar entrenamiento con prueba oficial y registrar la calidad y las limitaciones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3858768"/>
            <a:ext cx="54864" cy="1051560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3840480"/>
            <a:ext cx="697687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F5597"/>
                </a:solidFill>
                <a:latin typeface="Calibri"/>
              </a:rPr>
              <a:t>ENTREGABLES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4133087"/>
            <a:ext cx="6931152" cy="777239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800" b="0" i="0">
                <a:solidFill>
                  <a:srgbClr val="2F5597"/>
                </a:solidFill>
                <a:latin typeface="Calibri"/>
              </a:rPr>
              <a:t>■  </a:t>
            </a:r>
            <a:r>
              <a:rPr sz="1400" b="0" i="0">
                <a:solidFill>
                  <a:srgbClr val="263238"/>
                </a:solidFill>
                <a:latin typeface="Calibri"/>
              </a:rPr>
              <a:t>Notebook 01_HU02 y script perfil_datos.py · figuras y eda_resumen.json · informe con los resultados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5065775"/>
            <a:ext cx="54864" cy="1280160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5047488"/>
            <a:ext cx="697687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F5597"/>
                </a:solidFill>
                <a:latin typeface="Calibri"/>
              </a:rPr>
              <a:t>RESULTADO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5340095"/>
            <a:ext cx="6931152" cy="1005839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800" b="0" i="0">
                <a:solidFill>
                  <a:srgbClr val="2F5597"/>
                </a:solidFill>
                <a:latin typeface="Calibri"/>
              </a:rPr>
              <a:t>■  </a:t>
            </a:r>
            <a:r>
              <a:rPr sz="1400" b="0" i="0">
                <a:solidFill>
                  <a:srgbClr val="263238"/>
                </a:solidFill>
                <a:latin typeface="Calibri"/>
              </a:rPr>
              <a:t>Conteos iguales a los del artículo; 4.793 pares imagen-máscara; sin tumor no tiene máscara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800" b="0" i="0">
                <a:solidFill>
                  <a:srgbClr val="2F5597"/>
                </a:solidFill>
                <a:latin typeface="Calibri"/>
              </a:rPr>
              <a:t>■  </a:t>
            </a:r>
            <a:r>
              <a:rPr sz="1400" b="0" i="0">
                <a:solidFill>
                  <a:srgbClr val="263238"/>
                </a:solidFill>
                <a:latin typeface="Calibri"/>
              </a:rPr>
              <a:t>Hallazgos: máscaras no binarias, 183 tamaños, atajos por procedencia, prueba distinta al entrenamiento, 96 duplicados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00800"/>
            <a:ext cx="10908792" cy="7315"/>
          </a:xfrm>
          <a:prstGeom prst="rect">
            <a:avLst/>
          </a:prstGeom>
          <a:solidFill>
            <a:srgbClr val="D5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Sistema Inteligente: tumores cerebrales en MRI  ·  Revisión del Sprint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45375" y="6446520"/>
            <a:ext cx="3200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1F3864"/>
                </a:solidFill>
                <a:latin typeface="Calibri"/>
              </a:rPr>
              <a:t>Expone: Manuel Cuchuyrrumi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8655" y="6446520"/>
            <a:ext cx="8229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29184"/>
            <a:ext cx="3566160" cy="274320"/>
          </a:xfrm>
          <a:prstGeom prst="roundRect">
            <a:avLst>
              <a:gd name="adj" fmla="val 50000"/>
            </a:avLst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ETAPA 2 · COMPRENSIÓN DE LOS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08792" cy="6400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3864"/>
                </a:solidFill>
                <a:latin typeface="Calibri"/>
              </a:rPr>
              <a:t>BRISC 2025 (verificado)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10908792" cy="10972"/>
          </a:xfrm>
          <a:prstGeom prst="rect">
            <a:avLst/>
          </a:prstGeom>
          <a:solidFill>
            <a:srgbClr val="D5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7315"/>
          </a:xfrm>
          <a:prstGeom prst="rect">
            <a:avLst/>
          </a:prstGeom>
          <a:solidFill>
            <a:srgbClr val="D5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Sistema Inteligente: tumores cerebrales en MRI  ·  Revisión del Sprint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45375" y="6446520"/>
            <a:ext cx="3200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1F3864"/>
                </a:solidFill>
                <a:latin typeface="Calibri"/>
              </a:rPr>
              <a:t>Expone: Manuel Cuchuyrrumi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46520"/>
            <a:ext cx="8229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91640"/>
          <a:ext cx="6035040" cy="30175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286000"/>
                <a:gridCol w="1737360"/>
                <a:gridCol w="1005840"/>
                <a:gridCol w="100584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Clase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Entrenamiento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Prueba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63238"/>
                          </a:solidFill>
                          <a:latin typeface="Calibri"/>
                        </a:rPr>
                        <a:t>Glioma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Calibri"/>
                        </a:rPr>
                        <a:t>1.147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Calibri"/>
                        </a:rPr>
                        <a:t>254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Calibri"/>
                        </a:rPr>
                        <a:t>1.401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63238"/>
                          </a:solidFill>
                          <a:latin typeface="Calibri"/>
                        </a:rPr>
                        <a:t>Meningioma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Calibri"/>
                        </a:rPr>
                        <a:t>1.329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Calibri"/>
                        </a:rPr>
                        <a:t>306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Calibri"/>
                        </a:rPr>
                        <a:t>1.635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4F6F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63238"/>
                          </a:solidFill>
                          <a:latin typeface="Calibri"/>
                        </a:rPr>
                        <a:t>Tumor de hipófisis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Calibri"/>
                        </a:rPr>
                        <a:t>1.457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Calibri"/>
                        </a:rPr>
                        <a:t>1.757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63238"/>
                          </a:solidFill>
                          <a:latin typeface="Calibri"/>
                        </a:rPr>
                        <a:t>Sin tumor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Calibri"/>
                        </a:rPr>
                        <a:t>1.067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Calibri"/>
                        </a:rPr>
                        <a:t>140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Calibri"/>
                        </a:rPr>
                        <a:t>1.207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4F6F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63238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Calibri"/>
                        </a:rPr>
                        <a:t>5.000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Calibri"/>
                        </a:rPr>
                        <a:t>6.000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949440" y="1691640"/>
            <a:ext cx="4572000" cy="43891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000" b="0" i="0">
                <a:solidFill>
                  <a:srgbClr val="2F5597"/>
                </a:solidFill>
                <a:latin typeface="Calibri"/>
              </a:rPr>
              <a:t>■  </a:t>
            </a:r>
            <a:r>
              <a:rPr sz="1600" b="0" i="0">
                <a:solidFill>
                  <a:srgbClr val="263238"/>
                </a:solidFill>
                <a:latin typeface="Calibri"/>
              </a:rPr>
              <a:t>Imágenes T1 con contraste en cortes axiales, coronales y sagitales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000" b="0" i="0">
                <a:solidFill>
                  <a:srgbClr val="2F5597"/>
                </a:solidFill>
                <a:latin typeface="Calibri"/>
              </a:rPr>
              <a:t>■  </a:t>
            </a:r>
            <a:r>
              <a:rPr sz="1600" b="0" i="0">
                <a:solidFill>
                  <a:srgbClr val="263238"/>
                </a:solidFill>
                <a:latin typeface="Calibri"/>
              </a:rPr>
              <a:t>Autores: Fateh et al. (2025)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000" b="0" i="0">
                <a:solidFill>
                  <a:srgbClr val="2F5597"/>
                </a:solidFill>
                <a:latin typeface="Calibri"/>
              </a:rPr>
              <a:t>■  </a:t>
            </a:r>
            <a:r>
              <a:rPr sz="1600" b="0" i="0">
                <a:solidFill>
                  <a:srgbClr val="263238"/>
                </a:solidFill>
                <a:latin typeface="Calibri"/>
              </a:rPr>
              <a:t>4.793 pares imagen-máscara (solo las 3 clases con tumor)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000" b="0" i="0">
                <a:solidFill>
                  <a:srgbClr val="2F5597"/>
                </a:solidFill>
                <a:latin typeface="Calibri"/>
              </a:rPr>
              <a:t>■  </a:t>
            </a:r>
            <a:r>
              <a:rPr sz="1600" b="0" i="0">
                <a:solidFill>
                  <a:srgbClr val="263238"/>
                </a:solidFill>
                <a:latin typeface="Calibri"/>
              </a:rPr>
              <a:t>Sin ID de paciente: riesgo de fuga entre particiones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000" b="0" i="0">
                <a:solidFill>
                  <a:srgbClr val="2F5597"/>
                </a:solidFill>
                <a:latin typeface="Calibri"/>
              </a:rPr>
              <a:t>■  </a:t>
            </a:r>
            <a:r>
              <a:rPr sz="1600" b="0" i="0">
                <a:solidFill>
                  <a:srgbClr val="263238"/>
                </a:solidFill>
                <a:latin typeface="Calibri"/>
              </a:rPr>
              <a:t>Kaggle (briscdataset/brisc2025) · licencia CC BY 4.0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29184"/>
            <a:ext cx="3566160" cy="274320"/>
          </a:xfrm>
          <a:prstGeom prst="roundRect">
            <a:avLst>
              <a:gd name="adj" fmla="val 50000"/>
            </a:avLst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ETAPA 2 · COMPRENSIÓN DE LOS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08792" cy="6400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3864"/>
                </a:solidFill>
                <a:latin typeface="Calibri"/>
              </a:rPr>
              <a:t>Qué contiene cada archivo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10908792" cy="10972"/>
          </a:xfrm>
          <a:prstGeom prst="rect">
            <a:avLst/>
          </a:prstGeom>
          <a:solidFill>
            <a:srgbClr val="D5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7315"/>
          </a:xfrm>
          <a:prstGeom prst="rect">
            <a:avLst/>
          </a:prstGeom>
          <a:solidFill>
            <a:srgbClr val="D5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Sistema Inteligente: tumores cerebrales en MRI  ·  Revisión del Sprint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45375" y="6446520"/>
            <a:ext cx="3200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1F3864"/>
                </a:solidFill>
                <a:latin typeface="Calibri"/>
              </a:rPr>
              <a:t>Expone: Manuel Cuchuyrrumi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46520"/>
            <a:ext cx="8229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13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45920"/>
          <a:ext cx="10908792" cy="362102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834640"/>
                <a:gridCol w="1280160"/>
                <a:gridCol w="1828800"/>
                <a:gridCol w="4965192"/>
              </a:tblGrid>
              <a:tr h="603504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Elemento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Formato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Cantidad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Detalle medido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263238"/>
                          </a:solidFill>
                          <a:latin typeface="Calibri"/>
                        </a:rPr>
                        <a:t>Imágenes de clasificación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8"/>
                          </a:solidFill>
                          <a:latin typeface="Calibri"/>
                        </a:rPr>
                        <a:t>JPEG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8"/>
                          </a:solidFill>
                          <a:latin typeface="Calibri"/>
                        </a:rPr>
                        <a:t>6.000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8"/>
                          </a:solidFill>
                          <a:latin typeface="Calibri"/>
                        </a:rPr>
                        <a:t>2.866 en grises y 3.134 en RGB con canales iguales (en la práctica, un canal)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263238"/>
                          </a:solidFill>
                          <a:latin typeface="Calibri"/>
                        </a:rPr>
                        <a:t>Imágenes de segmentación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8"/>
                          </a:solidFill>
                          <a:latin typeface="Calibri"/>
                        </a:rPr>
                        <a:t>JPEG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8"/>
                          </a:solidFill>
                          <a:latin typeface="Calibri"/>
                        </a:rPr>
                        <a:t>4.793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8"/>
                          </a:solidFill>
                          <a:latin typeface="Calibri"/>
                        </a:rPr>
                        <a:t>Repiten imágenes de clasificación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4F6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263238"/>
                          </a:solidFill>
                          <a:latin typeface="Calibri"/>
                        </a:rPr>
                        <a:t>Máscaras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8"/>
                          </a:solidFill>
                          <a:latin typeface="Calibri"/>
                        </a:rPr>
                        <a:t>PNG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8"/>
                          </a:solidFill>
                          <a:latin typeface="Calibri"/>
                        </a:rPr>
                        <a:t>4.793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8"/>
                          </a:solidFill>
                          <a:latin typeface="Calibri"/>
                        </a:rPr>
                        <a:t>Valores intermedios (0 a 6 y algunos 250): se binarizan &gt; 127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263238"/>
                          </a:solidFill>
                          <a:latin typeface="Calibri"/>
                        </a:rPr>
                        <a:t>Tamaños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8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8"/>
                          </a:solidFill>
                          <a:latin typeface="Calibri"/>
                        </a:rPr>
                        <a:t>183 combinaciones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8"/>
                          </a:solidFill>
                          <a:latin typeface="Calibri"/>
                        </a:rPr>
                        <a:t>512×512 en 4.881 imágenes; 659 no son cuadradas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4F6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263238"/>
                          </a:solidFill>
                          <a:latin typeface="Calibri"/>
                        </a:rPr>
                        <a:t>manifest.csv / .json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8"/>
                          </a:solidFill>
                          <a:latin typeface="Calibri"/>
                        </a:rPr>
                        <a:t>CSV / JSON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8"/>
                          </a:solidFill>
                          <a:latin typeface="Calibri"/>
                        </a:rPr>
                        <a:t>15.586 filas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8"/>
                          </a:solidFill>
                          <a:latin typeface="Calibri"/>
                        </a:rPr>
                        <a:t>16 campos por archivo, con SHA-256 para detectar duplicados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5486400"/>
            <a:ext cx="10908792" cy="8229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800" b="0" i="0">
                <a:solidFill>
                  <a:srgbClr val="2F5597"/>
                </a:solidFill>
                <a:latin typeface="Calibri"/>
              </a:rPr>
              <a:t>■  </a:t>
            </a:r>
            <a:r>
              <a:rPr sz="1400" b="0" i="0">
                <a:solidFill>
                  <a:srgbClr val="263238"/>
                </a:solidFill>
                <a:latin typeface="Calibri"/>
              </a:rPr>
              <a:t>El README del dataset dice "clases balanceadas" y "máscaras binarias": al medir, las clases van de 1.207 a 1.757 imágenes y las máscaras no son estrictamente binarias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29184"/>
            <a:ext cx="3566160" cy="274320"/>
          </a:xfrm>
          <a:prstGeom prst="roundRect">
            <a:avLst>
              <a:gd name="adj" fmla="val 50000"/>
            </a:avLst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ETAPA 2 · COMPRENSIÓN DE LOS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08792" cy="6400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3864"/>
                </a:solidFill>
                <a:latin typeface="Calibri"/>
              </a:rPr>
              <a:t>Conteos por clase y plano de corte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10908792" cy="10972"/>
          </a:xfrm>
          <a:prstGeom prst="rect">
            <a:avLst/>
          </a:prstGeom>
          <a:solidFill>
            <a:srgbClr val="D5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7315"/>
          </a:xfrm>
          <a:prstGeom prst="rect">
            <a:avLst/>
          </a:prstGeom>
          <a:solidFill>
            <a:srgbClr val="D5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Sistema Inteligente: tumores cerebrales en MRI  ·  Revisión del Sprint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45375" y="6446520"/>
            <a:ext cx="3200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1F3864"/>
                </a:solidFill>
                <a:latin typeface="Calibri"/>
              </a:rPr>
              <a:t>Expone: Manuel Cuchuyrrumi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46520"/>
            <a:ext cx="8229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14</a:t>
            </a:r>
          </a:p>
        </p:txBody>
      </p:sp>
      <p:pic>
        <p:nvPicPr>
          <p:cNvPr id="10" name="Picture 9" descr="conteo_clase_parti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0"/>
            <a:ext cx="5349240" cy="3056709"/>
          </a:xfrm>
          <a:prstGeom prst="rect">
            <a:avLst/>
          </a:prstGeom>
          <a:ln w="9525">
            <a:solidFill>
              <a:srgbClr val="D5DBE5"/>
            </a:solidFill>
          </a:ln>
        </p:spPr>
      </p:pic>
      <p:pic>
        <p:nvPicPr>
          <p:cNvPr id="11" name="Picture 10" descr="planos_por_cl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1645920"/>
            <a:ext cx="5349240" cy="3056709"/>
          </a:xfrm>
          <a:prstGeom prst="rect">
            <a:avLst/>
          </a:prstGeom>
          <a:ln w="9525">
            <a:solidFill>
              <a:srgbClr val="D5DBE5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40080" y="4754880"/>
            <a:ext cx="10908792" cy="155448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00" b="0" i="0">
                <a:solidFill>
                  <a:srgbClr val="2F5597"/>
                </a:solidFill>
                <a:latin typeface="Calibri"/>
              </a:rPr>
              <a:t>■  </a:t>
            </a:r>
            <a:r>
              <a:rPr sz="1700" b="0" i="0">
                <a:solidFill>
                  <a:srgbClr val="263238"/>
                </a:solidFill>
                <a:latin typeface="Calibri"/>
              </a:rPr>
              <a:t>Los conteos por clase y partición son idénticos a los del artículo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00" b="0" i="0">
                <a:solidFill>
                  <a:srgbClr val="2F5597"/>
                </a:solidFill>
                <a:latin typeface="Calibri"/>
              </a:rPr>
              <a:t>■  </a:t>
            </a:r>
            <a:r>
              <a:rPr sz="1700" b="0" i="0">
                <a:solidFill>
                  <a:srgbClr val="263238"/>
                </a:solidFill>
                <a:latin typeface="Calibri"/>
              </a:rPr>
              <a:t>Los conteos por plano difieren levemente de su Tabla 2 (por ejemplo, entrenamiento axial 1.595 frente a 1.550); se usan los observados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29184"/>
            <a:ext cx="3566160" cy="274320"/>
          </a:xfrm>
          <a:prstGeom prst="roundRect">
            <a:avLst>
              <a:gd name="adj" fmla="val 50000"/>
            </a:avLst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ETAPA 2 · COMPRENSIÓN DE LOS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08792" cy="6400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3864"/>
                </a:solidFill>
                <a:latin typeface="Calibri"/>
              </a:rPr>
              <a:t>Imagen y máscara por clase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10908792" cy="10972"/>
          </a:xfrm>
          <a:prstGeom prst="rect">
            <a:avLst/>
          </a:prstGeom>
          <a:solidFill>
            <a:srgbClr val="D5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7315"/>
          </a:xfrm>
          <a:prstGeom prst="rect">
            <a:avLst/>
          </a:prstGeom>
          <a:solidFill>
            <a:srgbClr val="D5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Sistema Inteligente: tumores cerebrales en MRI  ·  Revisión del Sprint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45375" y="6446520"/>
            <a:ext cx="3200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1F3864"/>
                </a:solidFill>
                <a:latin typeface="Calibri"/>
              </a:rPr>
              <a:t>Expone: Manuel Cuchuyrrumi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46520"/>
            <a:ext cx="8229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15</a:t>
            </a:r>
          </a:p>
        </p:txBody>
      </p:sp>
      <p:pic>
        <p:nvPicPr>
          <p:cNvPr id="10" name="Picture 9" descr="galeria_imagen_masca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3531870" cy="4709160"/>
          </a:xfrm>
          <a:prstGeom prst="rect">
            <a:avLst/>
          </a:prstGeom>
          <a:ln w="9525">
            <a:solidFill>
              <a:srgbClr val="D5DBE5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4937760" y="1737360"/>
            <a:ext cx="6583680" cy="41148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100" b="0" i="0">
                <a:solidFill>
                  <a:srgbClr val="2F5597"/>
                </a:solidFill>
                <a:latin typeface="Calibri"/>
              </a:rPr>
              <a:t>■  </a:t>
            </a:r>
            <a:r>
              <a:rPr sz="1700" b="0" i="0">
                <a:solidFill>
                  <a:srgbClr val="263238"/>
                </a:solidFill>
                <a:latin typeface="Calibri"/>
              </a:rPr>
              <a:t>Máscara del tumor en rojo sobre la imagen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100" b="0" i="0">
                <a:solidFill>
                  <a:srgbClr val="2F5597"/>
                </a:solidFill>
                <a:latin typeface="Calibri"/>
              </a:rPr>
              <a:t>■  </a:t>
            </a:r>
            <a:r>
              <a:rPr sz="1700" b="0" i="0">
                <a:solidFill>
                  <a:srgbClr val="263238"/>
                </a:solidFill>
                <a:latin typeface="Calibri"/>
              </a:rPr>
              <a:t>Fila inferior: clase sin tumor, que no tiene máscara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100" b="0" i="0">
                <a:solidFill>
                  <a:srgbClr val="2F5597"/>
                </a:solidFill>
                <a:latin typeface="Calibri"/>
              </a:rPr>
              <a:t>■  </a:t>
            </a:r>
            <a:r>
              <a:rPr sz="1700" b="0" i="0">
                <a:solidFill>
                  <a:srgbClr val="263238"/>
                </a:solidFill>
                <a:latin typeface="Calibri"/>
              </a:rPr>
              <a:t>Los tumores son pequeños y de formas muy variadas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100" b="0" i="0">
                <a:solidFill>
                  <a:srgbClr val="2F5597"/>
                </a:solidFill>
                <a:latin typeface="Calibri"/>
              </a:rPr>
              <a:t>■  </a:t>
            </a:r>
            <a:r>
              <a:rPr sz="1700" b="0" i="0">
                <a:solidFill>
                  <a:srgbClr val="263238"/>
                </a:solidFill>
                <a:latin typeface="Calibri"/>
              </a:rPr>
              <a:t>Se ven los tres planos de corte: axial, coronal y sagital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29184"/>
            <a:ext cx="3566160" cy="274320"/>
          </a:xfrm>
          <a:prstGeom prst="roundRect">
            <a:avLst>
              <a:gd name="adj" fmla="val 50000"/>
            </a:avLst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ETAPA 2 · COMPRENSIÓN DE LOS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08792" cy="6400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3864"/>
                </a:solidFill>
                <a:latin typeface="Calibri"/>
              </a:rPr>
              <a:t>Modo de archivo, brillo y encuadre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10908792" cy="10972"/>
          </a:xfrm>
          <a:prstGeom prst="rect">
            <a:avLst/>
          </a:prstGeom>
          <a:solidFill>
            <a:srgbClr val="D5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7315"/>
          </a:xfrm>
          <a:prstGeom prst="rect">
            <a:avLst/>
          </a:prstGeom>
          <a:solidFill>
            <a:srgbClr val="D5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Sistema Inteligente: tumores cerebrales en MRI  ·  Revisión del Sprint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45375" y="6446520"/>
            <a:ext cx="3200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1F3864"/>
                </a:solidFill>
                <a:latin typeface="Calibri"/>
              </a:rPr>
              <a:t>Expone: Brayan Huallpatuiro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46520"/>
            <a:ext cx="8229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16</a:t>
            </a:r>
          </a:p>
        </p:txBody>
      </p:sp>
      <p:pic>
        <p:nvPicPr>
          <p:cNvPr id="10" name="Picture 9" descr="modo_por_cl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00200"/>
            <a:ext cx="5120640" cy="2491122"/>
          </a:xfrm>
          <a:prstGeom prst="rect">
            <a:avLst/>
          </a:prstGeom>
          <a:ln w="9525">
            <a:solidFill>
              <a:srgbClr val="D5DBE5"/>
            </a:solidFill>
          </a:ln>
        </p:spPr>
      </p:pic>
      <p:pic>
        <p:nvPicPr>
          <p:cNvPr id="11" name="Picture 10" descr="intensidad_y_cerebro_por_cl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600200"/>
            <a:ext cx="5577840" cy="2008022"/>
          </a:xfrm>
          <a:prstGeom prst="rect">
            <a:avLst/>
          </a:prstGeom>
          <a:ln w="9525">
            <a:solidFill>
              <a:srgbClr val="D5DBE5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40080" y="4480560"/>
            <a:ext cx="10908792" cy="18288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 b="0" i="0">
                <a:solidFill>
                  <a:srgbClr val="2F5597"/>
                </a:solidFill>
                <a:latin typeface="Calibri"/>
              </a:rPr>
              <a:t>■  </a:t>
            </a:r>
            <a:r>
              <a:rPr sz="1800" b="0" i="0">
                <a:solidFill>
                  <a:srgbClr val="263238"/>
                </a:solidFill>
                <a:latin typeface="Calibri"/>
              </a:rPr>
              <a:t>100 % de "sin tumor" está en RGB y 88 % de glioma en grises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 b="0" i="0">
                <a:solidFill>
                  <a:srgbClr val="2F5597"/>
                </a:solidFill>
                <a:latin typeface="Calibri"/>
              </a:rPr>
              <a:t>■  </a:t>
            </a:r>
            <a:r>
              <a:rPr sz="1800" b="0" i="0">
                <a:solidFill>
                  <a:srgbClr val="263238"/>
                </a:solidFill>
                <a:latin typeface="Calibri"/>
              </a:rPr>
              <a:t>El brillo y el encuadre cambian con la clase y con el plano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 b="0" i="0">
                <a:solidFill>
                  <a:srgbClr val="2F5597"/>
                </a:solidFill>
                <a:latin typeface="Calibri"/>
              </a:rPr>
              <a:t>■  </a:t>
            </a:r>
            <a:r>
              <a:rPr sz="1800" b="0" i="0">
                <a:solidFill>
                  <a:srgbClr val="263238"/>
                </a:solidFill>
                <a:latin typeface="Calibri"/>
              </a:rPr>
              <a:t>Riesgo de atajo: el modelo podría aprender la colección de origen (propuesto como R09)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29184"/>
            <a:ext cx="3566160" cy="274320"/>
          </a:xfrm>
          <a:prstGeom prst="roundRect">
            <a:avLst>
              <a:gd name="adj" fmla="val 50000"/>
            </a:avLst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ETAPA 2 · COMPRENSIÓN DE LOS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08792" cy="6400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3864"/>
                </a:solidFill>
                <a:latin typeface="Calibri"/>
              </a:rPr>
              <a:t>Dónde está el tumor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10908792" cy="10972"/>
          </a:xfrm>
          <a:prstGeom prst="rect">
            <a:avLst/>
          </a:prstGeom>
          <a:solidFill>
            <a:srgbClr val="D5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7315"/>
          </a:xfrm>
          <a:prstGeom prst="rect">
            <a:avLst/>
          </a:prstGeom>
          <a:solidFill>
            <a:srgbClr val="D5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Sistema Inteligente: tumores cerebrales en MRI  ·  Revisión del Sprint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45375" y="6446520"/>
            <a:ext cx="3200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1F3864"/>
                </a:solidFill>
                <a:latin typeface="Calibri"/>
              </a:rPr>
              <a:t>Expone: Brayan Huallpatuiro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46520"/>
            <a:ext cx="8229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17</a:t>
            </a:r>
          </a:p>
        </p:txBody>
      </p:sp>
      <p:pic>
        <p:nvPicPr>
          <p:cNvPr id="10" name="Picture 9" descr="mapa_localizacion_tum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928" y="1554480"/>
            <a:ext cx="8778240" cy="3160166"/>
          </a:xfrm>
          <a:prstGeom prst="rect">
            <a:avLst/>
          </a:prstGeom>
          <a:ln w="9525">
            <a:solidFill>
              <a:srgbClr val="D5DBE5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640080" y="4846320"/>
            <a:ext cx="10908792" cy="146304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00" b="0" i="0">
                <a:solidFill>
                  <a:srgbClr val="2F5597"/>
                </a:solidFill>
                <a:latin typeface="Calibri"/>
              </a:rPr>
              <a:t>■  </a:t>
            </a:r>
            <a:r>
              <a:rPr sz="1700" b="0" i="0">
                <a:solidFill>
                  <a:srgbClr val="263238"/>
                </a:solidFill>
                <a:latin typeface="Calibri"/>
              </a:rPr>
              <a:t>Hipófisis muy concentrada en el centro de la imagen (desvío 0,05): la posición es una pista fuerte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00" b="0" i="0">
                <a:solidFill>
                  <a:srgbClr val="2F5597"/>
                </a:solidFill>
                <a:latin typeface="Calibri"/>
              </a:rPr>
              <a:t>■  </a:t>
            </a:r>
            <a:r>
              <a:rPr sz="1700" b="0" i="0">
                <a:solidFill>
                  <a:srgbClr val="263238"/>
                </a:solidFill>
                <a:latin typeface="Calibri"/>
              </a:rPr>
              <a:t>Glioma y meningioma ocupan una zona más amplia; ninguna máscara toca el borde de la imagen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29184"/>
            <a:ext cx="3566160" cy="274320"/>
          </a:xfrm>
          <a:prstGeom prst="roundRect">
            <a:avLst>
              <a:gd name="adj" fmla="val 50000"/>
            </a:avLst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ETAPA 2 · COMPRENSIÓN DE LOS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08792" cy="6400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3864"/>
                </a:solidFill>
                <a:latin typeface="Calibri"/>
              </a:rPr>
              <a:t>Tamaño del tumor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10908792" cy="10972"/>
          </a:xfrm>
          <a:prstGeom prst="rect">
            <a:avLst/>
          </a:prstGeom>
          <a:solidFill>
            <a:srgbClr val="D5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7315"/>
          </a:xfrm>
          <a:prstGeom prst="rect">
            <a:avLst/>
          </a:prstGeom>
          <a:solidFill>
            <a:srgbClr val="D5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Sistema Inteligente: tumores cerebrales en MRI  ·  Revisión del Sprint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45375" y="6446520"/>
            <a:ext cx="3200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1F3864"/>
                </a:solidFill>
                <a:latin typeface="Calibri"/>
              </a:rPr>
              <a:t>Expone: Brayan Huallpatuiro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46520"/>
            <a:ext cx="8229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18</a:t>
            </a:r>
          </a:p>
        </p:txBody>
      </p:sp>
      <p:pic>
        <p:nvPicPr>
          <p:cNvPr id="10" name="Picture 9" descr="tamano_tum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00200"/>
            <a:ext cx="6766560" cy="3866606"/>
          </a:xfrm>
          <a:prstGeom prst="rect">
            <a:avLst/>
          </a:prstGeom>
          <a:ln w="9525">
            <a:solidFill>
              <a:srgbClr val="D5DBE5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7680960" y="1691640"/>
            <a:ext cx="3840480" cy="43891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000" b="0" i="0">
                <a:solidFill>
                  <a:srgbClr val="2F5597"/>
                </a:solidFill>
                <a:latin typeface="Calibri"/>
              </a:rPr>
              <a:t>■  </a:t>
            </a:r>
            <a:r>
              <a:rPr sz="1600" b="0" i="0">
                <a:solidFill>
                  <a:srgbClr val="263238"/>
                </a:solidFill>
                <a:latin typeface="Calibri"/>
              </a:rPr>
              <a:t>En mediana, el tumor ocupa entre 0,9 % (hipófisis) y 1,7 % (meningioma) de la imagen: el fondo domina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000" b="0" i="0">
                <a:solidFill>
                  <a:srgbClr val="2F5597"/>
                </a:solidFill>
                <a:latin typeface="Calibri"/>
              </a:rPr>
              <a:t>■  </a:t>
            </a:r>
            <a:r>
              <a:rPr sz="1600" b="0" i="0">
                <a:solidFill>
                  <a:srgbClr val="263238"/>
                </a:solidFill>
                <a:latin typeface="Calibri"/>
              </a:rPr>
              <a:t>Esto condiciona la función de pérdida de la segmentación en el Sprint 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29184"/>
            <a:ext cx="3566160" cy="274320"/>
          </a:xfrm>
          <a:prstGeom prst="roundRect">
            <a:avLst>
              <a:gd name="adj" fmla="val 50000"/>
            </a:avLst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ETAPA 2 · COMPRENSIÓN DE LOS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08792" cy="6400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3864"/>
                </a:solidFill>
                <a:latin typeface="Calibri"/>
              </a:rPr>
              <a:t>Regiones y contraste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10908792" cy="10972"/>
          </a:xfrm>
          <a:prstGeom prst="rect">
            <a:avLst/>
          </a:prstGeom>
          <a:solidFill>
            <a:srgbClr val="D5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7315"/>
          </a:xfrm>
          <a:prstGeom prst="rect">
            <a:avLst/>
          </a:prstGeom>
          <a:solidFill>
            <a:srgbClr val="D5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Sistema Inteligente: tumores cerebrales en MRI  ·  Revisión del Sprint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45375" y="6446520"/>
            <a:ext cx="3200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1F3864"/>
                </a:solidFill>
                <a:latin typeface="Calibri"/>
              </a:rPr>
              <a:t>Expone: Brayan Huallpatuiro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46520"/>
            <a:ext cx="8229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19</a:t>
            </a:r>
          </a:p>
        </p:txBody>
      </p:sp>
      <p:pic>
        <p:nvPicPr>
          <p:cNvPr id="10" name="Picture 9" descr="contraste_y_regi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928" y="1554480"/>
            <a:ext cx="8778240" cy="3160166"/>
          </a:xfrm>
          <a:prstGeom prst="rect">
            <a:avLst/>
          </a:prstGeom>
          <a:ln w="9525">
            <a:solidFill>
              <a:srgbClr val="D5DBE5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640080" y="4937760"/>
            <a:ext cx="10908792" cy="1417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900" b="0" i="0">
                <a:solidFill>
                  <a:srgbClr val="2F5597"/>
                </a:solidFill>
                <a:latin typeface="Calibri"/>
              </a:rPr>
              <a:t>■  </a:t>
            </a:r>
            <a:r>
              <a:rPr sz="1500" b="0" i="0">
                <a:solidFill>
                  <a:srgbClr val="263238"/>
                </a:solidFill>
                <a:latin typeface="Calibri"/>
              </a:rPr>
              <a:t>8,3 % de las máscaras tiene más de una región: el modelo debe poder marcar varias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900" b="0" i="0">
                <a:solidFill>
                  <a:srgbClr val="2F5597"/>
                </a:solidFill>
                <a:latin typeface="Calibri"/>
              </a:rPr>
              <a:t>■  </a:t>
            </a:r>
            <a:r>
              <a:rPr sz="1500" b="0" i="0">
                <a:solidFill>
                  <a:srgbClr val="263238"/>
                </a:solidFill>
                <a:latin typeface="Calibri"/>
              </a:rPr>
              <a:t>El tumor es más brillante que el resto del cerebro en el 87 % de las máscaras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900" b="0" i="0">
                <a:solidFill>
                  <a:srgbClr val="2F5597"/>
                </a:solidFill>
                <a:latin typeface="Calibri"/>
              </a:rPr>
              <a:t>■  </a:t>
            </a:r>
            <a:r>
              <a:rPr sz="1500" b="0" i="0">
                <a:solidFill>
                  <a:srgbClr val="263238"/>
                </a:solidFill>
                <a:latin typeface="Calibri"/>
              </a:rPr>
              <a:t>Glioma: contraste mediano 1,07 (casi igual al tejido); se espera que sea la clase más difícil de segmentar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29184"/>
            <a:ext cx="3566160" cy="274320"/>
          </a:xfrm>
          <a:prstGeom prst="roundRect">
            <a:avLst>
              <a:gd name="adj" fmla="val 50000"/>
            </a:avLst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ETAPA 2 · COMPRENSIÓN DE LOS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08792" cy="6400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3864"/>
                </a:solidFill>
                <a:latin typeface="Calibri"/>
              </a:rPr>
              <a:t>Entrenamiento frente a prueba oficial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10908792" cy="10972"/>
          </a:xfrm>
          <a:prstGeom prst="rect">
            <a:avLst/>
          </a:prstGeom>
          <a:solidFill>
            <a:srgbClr val="D5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7315"/>
          </a:xfrm>
          <a:prstGeom prst="rect">
            <a:avLst/>
          </a:prstGeom>
          <a:solidFill>
            <a:srgbClr val="D5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Sistema Inteligente: tumores cerebrales en MRI  ·  Revisión del Sprint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45375" y="6446520"/>
            <a:ext cx="3200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1F3864"/>
                </a:solidFill>
                <a:latin typeface="Calibri"/>
              </a:rPr>
              <a:t>Expone: Brayan Huallpatuiro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46520"/>
            <a:ext cx="8229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20</a:t>
            </a:r>
          </a:p>
        </p:txBody>
      </p:sp>
      <p:pic>
        <p:nvPicPr>
          <p:cNvPr id="10" name="Picture 9" descr="train_vs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5688" y="1554480"/>
            <a:ext cx="8046720" cy="3540557"/>
          </a:xfrm>
          <a:prstGeom prst="rect">
            <a:avLst/>
          </a:prstGeom>
          <a:ln w="9525">
            <a:solidFill>
              <a:srgbClr val="D5DBE5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640080" y="5212080"/>
            <a:ext cx="10908792" cy="11430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800" b="0" i="0">
                <a:solidFill>
                  <a:srgbClr val="2F5597"/>
                </a:solidFill>
                <a:latin typeface="Calibri"/>
              </a:rPr>
              <a:t>■  </a:t>
            </a:r>
            <a:r>
              <a:rPr sz="1400" b="0" i="0">
                <a:solidFill>
                  <a:srgbClr val="263238"/>
                </a:solidFill>
                <a:latin typeface="Calibri"/>
              </a:rPr>
              <a:t>La prueba tiene más imágenes en grises (58,2 % frente a 45,7 %) y, en algunas clases, otro brillo, encuadre y tamaño de tumor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800" b="0" i="0">
                <a:solidFill>
                  <a:srgbClr val="2F5597"/>
                </a:solidFill>
                <a:latin typeface="Calibri"/>
              </a:rPr>
              <a:t>■  </a:t>
            </a:r>
            <a:r>
              <a:rPr sz="1400" b="0" i="0">
                <a:solidFill>
                  <a:srgbClr val="263238"/>
                </a:solidFill>
                <a:latin typeface="Calibri"/>
              </a:rPr>
              <a:t>La validación propia sale del entrenamiento y no muestra este desfase: reportar resultados por clase, plano y tipo de archivo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29184"/>
            <a:ext cx="3566160" cy="274320"/>
          </a:xfrm>
          <a:prstGeom prst="roundRect">
            <a:avLst>
              <a:gd name="adj" fmla="val 50000"/>
            </a:avLst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ETAPA 2 · COMPRENSIÓN DE LOS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08792" cy="6400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3864"/>
                </a:solidFill>
                <a:latin typeface="Calibri"/>
              </a:rPr>
              <a:t>Calidad de los datos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10908792" cy="10972"/>
          </a:xfrm>
          <a:prstGeom prst="rect">
            <a:avLst/>
          </a:prstGeom>
          <a:solidFill>
            <a:srgbClr val="D5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7315"/>
          </a:xfrm>
          <a:prstGeom prst="rect">
            <a:avLst/>
          </a:prstGeom>
          <a:solidFill>
            <a:srgbClr val="D5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Sistema Inteligente: tumores cerebrales en MRI  ·  Revisión del Sprint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45375" y="6446520"/>
            <a:ext cx="3200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1F3864"/>
                </a:solidFill>
                <a:latin typeface="Calibri"/>
              </a:rPr>
              <a:t>Expone: Brayan Huallpatuiro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46520"/>
            <a:ext cx="8229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21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45920"/>
          <a:ext cx="10908792" cy="422452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560320"/>
                <a:gridCol w="8348472"/>
              </a:tblGrid>
              <a:tr h="603504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Dimensión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Resultado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263238"/>
                          </a:solidFill>
                          <a:latin typeface="Calibri"/>
                        </a:rPr>
                        <a:t>Completitud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Calibri"/>
                        </a:rPr>
                        <a:t>6.000 imágenes y 4.793 máscaras; todas las imágenes con tumor tienen máscara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263238"/>
                          </a:solidFill>
                          <a:latin typeface="Calibri"/>
                        </a:rPr>
                        <a:t>Exactitud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Calibri"/>
                        </a:rPr>
                        <a:t>0 archivos corruptos; máscara e imagen del mismo tamaño; 0 máscaras vacías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4F6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263238"/>
                          </a:solidFill>
                          <a:latin typeface="Calibri"/>
                        </a:rPr>
                        <a:t>Unicidad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Calibri"/>
                        </a:rPr>
                        <a:t>96 archivos con SHA-256 repetido; 113 a 123 imágenes de prueba casi idénticas al entrenamiento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263238"/>
                          </a:solidFill>
                          <a:latin typeface="Calibri"/>
                        </a:rPr>
                        <a:t>Formato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Calibri"/>
                        </a:rPr>
                        <a:t>Máscaras con valores intermedios; 2 modos de imagen; 183 tamaños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4F6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263238"/>
                          </a:solidFill>
                          <a:latin typeface="Calibri"/>
                        </a:rPr>
                        <a:t>Balance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Calibri"/>
                        </a:rPr>
                        <a:t>Clases de 1.207 a 1.757 imágenes; tumor de 0,9 % a 1,7 % de la imagen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263238"/>
                          </a:solidFill>
                          <a:latin typeface="Calibri"/>
                        </a:rPr>
                        <a:t>Representatividad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Calibri"/>
                        </a:rPr>
                        <a:t>Solo T1 con contraste; sin ID de paciente; 80 % de las imágenes tiene tumor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E8C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29184"/>
            <a:ext cx="3566160" cy="274320"/>
          </a:xfrm>
          <a:prstGeom prst="roundRect">
            <a:avLst>
              <a:gd name="adj" fmla="val 50000"/>
            </a:avLst>
          </a:prstGeom>
          <a:solidFill>
            <a:srgbClr val="5E8C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ETAPA 3 · PREPARACIÓN DE LOS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2926080" cy="1554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0" b="1" i="0">
                <a:solidFill>
                  <a:srgbClr val="5E8C6A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14600"/>
            <a:ext cx="3108960" cy="11887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F3864"/>
                </a:solidFill>
                <a:latin typeface="Calibri"/>
              </a:rPr>
              <a:t>Preparación de los datos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794760"/>
            <a:ext cx="3108960" cy="12801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7280"/>
                </a:solidFill>
                <a:latin typeface="Calibri"/>
              </a:rPr>
              <a:t>Historia HU03 · 6 a 8 de octubre · Fase 3 de CRISP-ML(Q)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9080" y="914400"/>
            <a:ext cx="10972" cy="5303520"/>
          </a:xfrm>
          <a:prstGeom prst="rect">
            <a:avLst/>
          </a:prstGeom>
          <a:solidFill>
            <a:srgbClr val="D5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0" y="914400"/>
            <a:ext cx="54864" cy="2788920"/>
          </a:xfrm>
          <a:prstGeom prst="rect">
            <a:avLst/>
          </a:prstGeom>
          <a:solidFill>
            <a:srgbClr val="5E8C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896112"/>
            <a:ext cx="697687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E8C6A"/>
                </a:solidFill>
                <a:latin typeface="Calibri"/>
              </a:rPr>
              <a:t>QUÉ SE HIZO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188720"/>
            <a:ext cx="6931152" cy="2514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800" b="0" i="0">
                <a:solidFill>
                  <a:srgbClr val="5E8C6A"/>
                </a:solidFill>
                <a:latin typeface="Calibri"/>
              </a:rPr>
              <a:t>■  </a:t>
            </a:r>
            <a:r>
              <a:rPr sz="1400" b="0" i="0">
                <a:solidFill>
                  <a:srgbClr val="263238"/>
                </a:solidFill>
                <a:latin typeface="Calibri"/>
              </a:rPr>
              <a:t>Verificar la integridad: archivos corruptos y pares imagen-máscara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800" b="0" i="0">
                <a:solidFill>
                  <a:srgbClr val="5E8C6A"/>
                </a:solidFill>
                <a:latin typeface="Calibri"/>
              </a:rPr>
              <a:t>■  </a:t>
            </a:r>
            <a:r>
              <a:rPr sz="1400" b="0" i="0">
                <a:solidFill>
                  <a:srgbClr val="263238"/>
                </a:solidFill>
                <a:latin typeface="Calibri"/>
              </a:rPr>
              <a:t>Agrupar imágenes casi idénticas con un hash perceptual, eligiendo el umbral con datos reales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800" b="0" i="0">
                <a:solidFill>
                  <a:srgbClr val="5E8C6A"/>
                </a:solidFill>
                <a:latin typeface="Calibri"/>
              </a:rPr>
              <a:t>■  </a:t>
            </a:r>
            <a:r>
              <a:rPr sz="1400" b="0" i="0">
                <a:solidFill>
                  <a:srgbClr val="263238"/>
                </a:solidFill>
                <a:latin typeface="Calibri"/>
              </a:rPr>
              <a:t>Partir entrenamiento y validación sin tocar la prueba oficial (20 %, por clase y plano, semilla 42)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800" b="0" i="0">
                <a:solidFill>
                  <a:srgbClr val="5E8C6A"/>
                </a:solidFill>
                <a:latin typeface="Calibri"/>
              </a:rPr>
              <a:t>■  </a:t>
            </a:r>
            <a:r>
              <a:rPr sz="1400" b="0" i="0">
                <a:solidFill>
                  <a:srgbClr val="263238"/>
                </a:solidFill>
                <a:latin typeface="Calibri"/>
              </a:rPr>
              <a:t>Fijar el preprocesamiento y escribir el cargador de datos; probarlo con un lote real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800" b="0" i="0">
                <a:solidFill>
                  <a:srgbClr val="5E8C6A"/>
                </a:solidFill>
                <a:latin typeface="Calibri"/>
              </a:rPr>
              <a:t>■  </a:t>
            </a:r>
            <a:r>
              <a:rPr sz="1400" b="0" i="0">
                <a:solidFill>
                  <a:srgbClr val="263238"/>
                </a:solidFill>
                <a:latin typeface="Calibri"/>
              </a:rPr>
              <a:t>Guardar la partición y dejar todo reproducible con scripts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3858768"/>
            <a:ext cx="54864" cy="1051560"/>
          </a:xfrm>
          <a:prstGeom prst="rect">
            <a:avLst/>
          </a:prstGeom>
          <a:solidFill>
            <a:srgbClr val="5E8C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3840480"/>
            <a:ext cx="697687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E8C6A"/>
                </a:solidFill>
                <a:latin typeface="Calibri"/>
              </a:rPr>
              <a:t>ENTREGABLES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4133087"/>
            <a:ext cx="6931152" cy="777239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800" b="0" i="0">
                <a:solidFill>
                  <a:srgbClr val="5E8C6A"/>
                </a:solidFill>
                <a:latin typeface="Calibri"/>
              </a:rPr>
              <a:t>■  </a:t>
            </a:r>
            <a:r>
              <a:rPr sz="1400" b="0" i="0">
                <a:solidFill>
                  <a:srgbClr val="263238"/>
                </a:solidFill>
                <a:latin typeface="Calibri"/>
              </a:rPr>
              <a:t>Notebook 02_HU03 · listas de partición y config_preparacion.json · cargador de datos · descargar_brisc.py y ejecutar_sprint1.py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5065775"/>
            <a:ext cx="54864" cy="1280160"/>
          </a:xfrm>
          <a:prstGeom prst="rect">
            <a:avLst/>
          </a:prstGeom>
          <a:solidFill>
            <a:srgbClr val="5E8C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5047488"/>
            <a:ext cx="697687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E8C6A"/>
                </a:solidFill>
                <a:latin typeface="Calibri"/>
              </a:rPr>
              <a:t>RESULTADO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5340095"/>
            <a:ext cx="6931152" cy="1005839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800" b="0" i="0">
                <a:solidFill>
                  <a:srgbClr val="5E8C6A"/>
                </a:solidFill>
                <a:latin typeface="Calibri"/>
              </a:rPr>
              <a:t>■  </a:t>
            </a:r>
            <a:r>
              <a:rPr sz="1400" b="0" i="0">
                <a:solidFill>
                  <a:srgbClr val="263238"/>
                </a:solidFill>
                <a:latin typeface="Calibri"/>
              </a:rPr>
              <a:t>3.999 entrenamiento, 1.001 validación y 1.000 prueba oficial intacta; 4.938 grupos de imágenes parecidas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800" b="0" i="0">
                <a:solidFill>
                  <a:srgbClr val="5E8C6A"/>
                </a:solidFill>
                <a:latin typeface="Calibri"/>
              </a:rPr>
              <a:t>■  </a:t>
            </a:r>
            <a:r>
              <a:rPr sz="1400" b="0" i="0">
                <a:solidFill>
                  <a:srgbClr val="263238"/>
                </a:solidFill>
                <a:latin typeface="Calibri"/>
              </a:rPr>
              <a:t>0 archivos corruptos; cargador probado con un lote; resultados idénticos al repetir la ejecución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00800"/>
            <a:ext cx="10908792" cy="7315"/>
          </a:xfrm>
          <a:prstGeom prst="rect">
            <a:avLst/>
          </a:prstGeom>
          <a:solidFill>
            <a:srgbClr val="D5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Sistema Inteligente: tumores cerebrales en MRI  ·  Revisión del Sprint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45375" y="6446520"/>
            <a:ext cx="3200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1F3864"/>
                </a:solidFill>
                <a:latin typeface="Calibri"/>
              </a:rPr>
              <a:t>Expone: Brayan Huallpatuiro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8655" y="6446520"/>
            <a:ext cx="8229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E8C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29184"/>
            <a:ext cx="3566160" cy="274320"/>
          </a:xfrm>
          <a:prstGeom prst="roundRect">
            <a:avLst>
              <a:gd name="adj" fmla="val 50000"/>
            </a:avLst>
          </a:prstGeom>
          <a:solidFill>
            <a:srgbClr val="5E8C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ETAPA 3 · PREPARACIÓN DE LOS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08792" cy="6400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3864"/>
                </a:solidFill>
                <a:latin typeface="Calibri"/>
              </a:rPr>
              <a:t>Integridad y agrupación por hash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10908792" cy="10972"/>
          </a:xfrm>
          <a:prstGeom prst="rect">
            <a:avLst/>
          </a:prstGeom>
          <a:solidFill>
            <a:srgbClr val="D5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7315"/>
          </a:xfrm>
          <a:prstGeom prst="rect">
            <a:avLst/>
          </a:prstGeom>
          <a:solidFill>
            <a:srgbClr val="D5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Sistema Inteligente: tumores cerebrales en MRI  ·  Revisión del Sprint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45375" y="6446520"/>
            <a:ext cx="3200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1F3864"/>
                </a:solidFill>
                <a:latin typeface="Calibri"/>
              </a:rPr>
              <a:t>Expone: Frank Mamani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46520"/>
            <a:ext cx="8229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23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45920"/>
          <a:ext cx="6675120" cy="25146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194560"/>
                <a:gridCol w="1188720"/>
                <a:gridCol w="1463040"/>
                <a:gridCol w="182880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Umbral (de 256 bits)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Grupos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Mayor grupo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Grupos con más de 1 imagen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63238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Calibri"/>
                        </a:rPr>
                        <a:t>4.952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63238"/>
                          </a:solidFill>
                          <a:latin typeface="Calibri"/>
                        </a:rPr>
                        <a:t>16 (elegido)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Calibri"/>
                        </a:rPr>
                        <a:t>4.938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Calibri"/>
                        </a:rPr>
                        <a:t>55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4F6F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63238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Calibri"/>
                        </a:rPr>
                        <a:t>4.727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Calibri"/>
                        </a:rPr>
                        <a:t>217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63238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Calibri"/>
                        </a:rPr>
                        <a:t>4.077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Calibri"/>
                        </a:rPr>
                        <a:t>548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4434840"/>
            <a:ext cx="10908792" cy="192024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5E8C6A"/>
                </a:solidFill>
                <a:latin typeface="Calibri"/>
              </a:rPr>
              <a:t>■  </a:t>
            </a:r>
            <a:r>
              <a:rPr sz="1600" b="0" i="0">
                <a:solidFill>
                  <a:srgbClr val="263238"/>
                </a:solidFill>
                <a:latin typeface="Calibri"/>
              </a:rPr>
              <a:t>Primer intento: hash de 64 bits con umbral 6 formó un grupo de 1.933 imágenes distintas; se midieron las distancias reales y se corrigió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5E8C6A"/>
                </a:solidFill>
                <a:latin typeface="Calibri"/>
              </a:rPr>
              <a:t>■  </a:t>
            </a:r>
            <a:r>
              <a:rPr sz="1600" b="0" i="0">
                <a:solidFill>
                  <a:srgbClr val="263238"/>
                </a:solidFill>
                <a:latin typeface="Calibri"/>
              </a:rPr>
              <a:t>Integridad: 0 archivos corruptos, 0 máscaras sin imagen, 0 vacías y 0 con tamaño distinto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5E8C6A"/>
                </a:solidFill>
                <a:latin typeface="Calibri"/>
              </a:rPr>
              <a:t>■  </a:t>
            </a:r>
            <a:r>
              <a:rPr sz="1600" b="0" i="0">
                <a:solidFill>
                  <a:srgbClr val="263238"/>
                </a:solidFill>
                <a:latin typeface="Calibri"/>
              </a:rPr>
              <a:t>Control informativo: 113 a 123 imágenes de prueba tienen un vecino casi idéntico en entrenamiento (no se corrige: la prueba no se toca)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89520" y="1645920"/>
            <a:ext cx="3959352" cy="24688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89520" y="1645920"/>
            <a:ext cx="64008" cy="2468880"/>
          </a:xfrm>
          <a:prstGeom prst="rect">
            <a:avLst/>
          </a:prstGeom>
          <a:solidFill>
            <a:srgbClr val="5E8C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0" y="1737360"/>
            <a:ext cx="356616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E8C6A"/>
                </a:solidFill>
                <a:latin typeface="Calibri"/>
              </a:rPr>
              <a:t>POR QUÉ SE AGRUPAN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2103120"/>
            <a:ext cx="3566160" cy="19202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263238"/>
                </a:solidFill>
                <a:latin typeface="Calibri"/>
              </a:rPr>
              <a:t>BRISC no trae ID de paciente. Si cortes casi idénticos del mismo paciente quedaran en entrenamiento y en validación, las métricas saldrían infladas.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E8C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29184"/>
            <a:ext cx="3566160" cy="274320"/>
          </a:xfrm>
          <a:prstGeom prst="roundRect">
            <a:avLst>
              <a:gd name="adj" fmla="val 50000"/>
            </a:avLst>
          </a:prstGeom>
          <a:solidFill>
            <a:srgbClr val="5E8C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ETAPA 3 · PREPARACIÓN DE LOS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08792" cy="6400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3864"/>
                </a:solidFill>
                <a:latin typeface="Calibri"/>
              </a:rPr>
              <a:t>Partición propia de los datos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10908792" cy="10972"/>
          </a:xfrm>
          <a:prstGeom prst="rect">
            <a:avLst/>
          </a:prstGeom>
          <a:solidFill>
            <a:srgbClr val="D5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7315"/>
          </a:xfrm>
          <a:prstGeom prst="rect">
            <a:avLst/>
          </a:prstGeom>
          <a:solidFill>
            <a:srgbClr val="D5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Sistema Inteligente: tumores cerebrales en MRI  ·  Revisión del Sprint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45375" y="6446520"/>
            <a:ext cx="3200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1F3864"/>
                </a:solidFill>
                <a:latin typeface="Calibri"/>
              </a:rPr>
              <a:t>Expone: Frank Mamani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46520"/>
            <a:ext cx="8229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24</a:t>
            </a:r>
          </a:p>
        </p:txBody>
      </p:sp>
      <p:pic>
        <p:nvPicPr>
          <p:cNvPr id="10" name="Picture 9" descr="parti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807" y="1554480"/>
            <a:ext cx="8412480" cy="3196742"/>
          </a:xfrm>
          <a:prstGeom prst="rect">
            <a:avLst/>
          </a:prstGeom>
          <a:ln w="9525">
            <a:solidFill>
              <a:srgbClr val="D5DBE5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640080" y="4983480"/>
            <a:ext cx="10908792" cy="1371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900" b="0" i="0">
                <a:solidFill>
                  <a:srgbClr val="5E8C6A"/>
                </a:solidFill>
                <a:latin typeface="Calibri"/>
              </a:rPr>
              <a:t>■  </a:t>
            </a:r>
            <a:r>
              <a:rPr sz="1500" b="0" i="0">
                <a:solidFill>
                  <a:srgbClr val="263238"/>
                </a:solidFill>
                <a:latin typeface="Calibri"/>
              </a:rPr>
              <a:t>3.999 entrenamiento, 1.001 validación (20 %, en cada clase y plano) y 1.000 prueba oficial intacta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900" b="0" i="0">
                <a:solidFill>
                  <a:srgbClr val="5E8C6A"/>
                </a:solidFill>
                <a:latin typeface="Calibri"/>
              </a:rPr>
              <a:t>■  </a:t>
            </a:r>
            <a:r>
              <a:rPr sz="1500" b="0" i="0">
                <a:solidFill>
                  <a:srgbClr val="263238"/>
                </a:solidFill>
                <a:latin typeface="Calibri"/>
              </a:rPr>
              <a:t>Cada grupo de imágenes parecidas va completo a un solo lado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900" b="0" i="0">
                <a:solidFill>
                  <a:srgbClr val="5E8C6A"/>
                </a:solidFill>
                <a:latin typeface="Calibri"/>
              </a:rPr>
              <a:t>■  </a:t>
            </a:r>
            <a:r>
              <a:rPr sz="1500" b="0" i="0">
                <a:solidFill>
                  <a:srgbClr val="263238"/>
                </a:solidFill>
                <a:latin typeface="Calibri"/>
              </a:rPr>
              <a:t>La validación sirve para elegir modelos; la prueba se usa una sola vez, al final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E8C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29184"/>
            <a:ext cx="3566160" cy="274320"/>
          </a:xfrm>
          <a:prstGeom prst="roundRect">
            <a:avLst>
              <a:gd name="adj" fmla="val 50000"/>
            </a:avLst>
          </a:prstGeom>
          <a:solidFill>
            <a:srgbClr val="5E8C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ETAPA 3 · PREPARACIÓN DE LOS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08792" cy="6400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3864"/>
                </a:solidFill>
                <a:latin typeface="Calibri"/>
              </a:rPr>
              <a:t>Preprocesamiento y cargador de datos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10908792" cy="10972"/>
          </a:xfrm>
          <a:prstGeom prst="rect">
            <a:avLst/>
          </a:prstGeom>
          <a:solidFill>
            <a:srgbClr val="D5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7315"/>
          </a:xfrm>
          <a:prstGeom prst="rect">
            <a:avLst/>
          </a:prstGeom>
          <a:solidFill>
            <a:srgbClr val="D5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Sistema Inteligente: tumores cerebrales en MRI  ·  Revisión del Sprint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45375" y="6446520"/>
            <a:ext cx="3200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1F3864"/>
                </a:solidFill>
                <a:latin typeface="Calibri"/>
              </a:rPr>
              <a:t>Expone: Frank Mamani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46520"/>
            <a:ext cx="8229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25</a:t>
            </a:r>
          </a:p>
        </p:txBody>
      </p:sp>
      <p:pic>
        <p:nvPicPr>
          <p:cNvPr id="10" name="Picture 9" descr="lote_de_prue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00200"/>
            <a:ext cx="6858000" cy="3740727"/>
          </a:xfrm>
          <a:prstGeom prst="rect">
            <a:avLst/>
          </a:prstGeom>
          <a:ln w="9525">
            <a:solidFill>
              <a:srgbClr val="D5DBE5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7772400" y="1691640"/>
            <a:ext cx="3749039" cy="43891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000" b="0" i="0">
                <a:solidFill>
                  <a:srgbClr val="5E8C6A"/>
                </a:solidFill>
                <a:latin typeface="Calibri"/>
              </a:rPr>
              <a:t>■  </a:t>
            </a:r>
            <a:r>
              <a:rPr sz="1600" b="0" i="0">
                <a:solidFill>
                  <a:srgbClr val="263238"/>
                </a:solidFill>
                <a:latin typeface="Calibri"/>
              </a:rPr>
              <a:t>Relleno a cuadrado sin deformar y 256×256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000" b="0" i="0">
                <a:solidFill>
                  <a:srgbClr val="5E8C6A"/>
                </a:solidFill>
                <a:latin typeface="Calibri"/>
              </a:rPr>
              <a:t>■  </a:t>
            </a:r>
            <a:r>
              <a:rPr sz="1600" b="0" i="0">
                <a:solidFill>
                  <a:srgbClr val="263238"/>
                </a:solidFill>
                <a:latin typeface="Calibri"/>
              </a:rPr>
              <a:t>Máscaras con umbral &gt; 127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000" b="0" i="0">
                <a:solidFill>
                  <a:srgbClr val="5E8C6A"/>
                </a:solidFill>
                <a:latin typeface="Calibri"/>
              </a:rPr>
              <a:t>■  </a:t>
            </a:r>
            <a:r>
              <a:rPr sz="1600" b="0" i="0">
                <a:solidFill>
                  <a:srgbClr val="263238"/>
                </a:solidFill>
                <a:latin typeface="Calibri"/>
              </a:rPr>
              <a:t>Normalización de ImageNet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000" b="0" i="0">
                <a:solidFill>
                  <a:srgbClr val="5E8C6A"/>
                </a:solidFill>
                <a:latin typeface="Calibri"/>
              </a:rPr>
              <a:t>■  </a:t>
            </a:r>
            <a:r>
              <a:rPr sz="1600" b="0" i="0">
                <a:solidFill>
                  <a:srgbClr val="263238"/>
                </a:solidFill>
                <a:latin typeface="Calibri"/>
              </a:rPr>
              <a:t>Sin tumor: máscara vacía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000" b="0" i="0">
                <a:solidFill>
                  <a:srgbClr val="5E8C6A"/>
                </a:solidFill>
                <a:latin typeface="Calibri"/>
              </a:rPr>
              <a:t>■  </a:t>
            </a:r>
            <a:r>
              <a:rPr sz="1600" b="0" i="0">
                <a:solidFill>
                  <a:srgbClr val="263238"/>
                </a:solidFill>
                <a:latin typeface="Calibri"/>
              </a:rPr>
              <a:t>Probado con un lote real (8×3×256×256)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29184"/>
            <a:ext cx="3566160" cy="274320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CIERRE DEL SPRINT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08792" cy="6400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3864"/>
                </a:solidFill>
                <a:latin typeface="Calibri"/>
              </a:rPr>
              <a:t>Demostración del trabajo completado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10908792" cy="10972"/>
          </a:xfrm>
          <a:prstGeom prst="rect">
            <a:avLst/>
          </a:prstGeom>
          <a:solidFill>
            <a:srgbClr val="D5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7315"/>
          </a:xfrm>
          <a:prstGeom prst="rect">
            <a:avLst/>
          </a:prstGeom>
          <a:solidFill>
            <a:srgbClr val="D5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Sistema Inteligente: tumores cerebrales en MRI  ·  Revisión del Sprint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45375" y="6446520"/>
            <a:ext cx="3200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1F3864"/>
                </a:solidFill>
                <a:latin typeface="Calibri"/>
              </a:rPr>
              <a:t>Expone: Frank Mamani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46520"/>
            <a:ext cx="8229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45920"/>
            <a:ext cx="10908792" cy="45720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6B7280"/>
                </a:solidFill>
                <a:latin typeface="Calibri"/>
              </a:rPr>
              <a:t>■  </a:t>
            </a:r>
            <a:r>
              <a:rPr sz="2200" b="0" i="0">
                <a:solidFill>
                  <a:srgbClr val="263238"/>
                </a:solidFill>
                <a:latin typeface="Calibri"/>
              </a:rPr>
              <a:t>Etapa 1: tablero de Trello con 17 historias, criterios de aceptación y fases CRISP-ML(Q)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6B7280"/>
                </a:solidFill>
                <a:latin typeface="Calibri"/>
              </a:rPr>
              <a:t>■  </a:t>
            </a:r>
            <a:r>
              <a:rPr sz="2200" b="0" i="0">
                <a:solidFill>
                  <a:srgbClr val="263238"/>
                </a:solidFill>
                <a:latin typeface="Calibri"/>
              </a:rPr>
              <a:t>Etapa 2: notebook HU02 y perfil de datos con los datos reales de BRISC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6B7280"/>
                </a:solidFill>
                <a:latin typeface="Calibri"/>
              </a:rPr>
              <a:t>■  </a:t>
            </a:r>
            <a:r>
              <a:rPr sz="2200" b="0" i="0">
                <a:solidFill>
                  <a:srgbClr val="263238"/>
                </a:solidFill>
                <a:latin typeface="Calibri"/>
              </a:rPr>
              <a:t>Etapa 3: notebook HU03 con integridad, hash, partición y cargador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6B7280"/>
                </a:solidFill>
                <a:latin typeface="Calibri"/>
              </a:rPr>
              <a:t>■  </a:t>
            </a:r>
            <a:r>
              <a:rPr sz="2200" b="0" i="0">
                <a:solidFill>
                  <a:srgbClr val="263238"/>
                </a:solidFill>
                <a:latin typeface="Calibri"/>
              </a:rPr>
              <a:t>Los conteos por clase y partición coinciden con el artículo (diferencia 0 en las 8 combinaciones)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29184"/>
            <a:ext cx="3566160" cy="274320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CIERRE DEL SPRINT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08792" cy="6400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3864"/>
                </a:solidFill>
                <a:latin typeface="Calibri"/>
              </a:rPr>
              <a:t>Hallazgos y decisiones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10908792" cy="10972"/>
          </a:xfrm>
          <a:prstGeom prst="rect">
            <a:avLst/>
          </a:prstGeom>
          <a:solidFill>
            <a:srgbClr val="D5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7315"/>
          </a:xfrm>
          <a:prstGeom prst="rect">
            <a:avLst/>
          </a:prstGeom>
          <a:solidFill>
            <a:srgbClr val="D5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Sistema Inteligente: tumores cerebrales en MRI  ·  Revisión del Sprint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45375" y="6446520"/>
            <a:ext cx="3200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1F3864"/>
                </a:solidFill>
                <a:latin typeface="Calibri"/>
              </a:rPr>
              <a:t>Expone: Frank Mamani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46520"/>
            <a:ext cx="8229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27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39684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4754880"/>
                <a:gridCol w="5148072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Etapa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Hallazgo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Decisión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263238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8"/>
                          </a:solidFill>
                          <a:latin typeface="Calibri"/>
                        </a:rPr>
                        <a:t>Sin tumor no tiene máscara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8"/>
                          </a:solidFill>
                          <a:latin typeface="Calibri"/>
                        </a:rPr>
                        <a:t>Segmentación solo con las 4.793 imágenes con tumor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263238"/>
                          </a:solidFill>
                          <a:latin typeface="Calibri"/>
                        </a:rPr>
                        <a:t>2 → 3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8"/>
                          </a:solidFill>
                          <a:latin typeface="Calibri"/>
                        </a:rPr>
                        <a:t>Máscaras con valores intermedios; 183 tamaños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8"/>
                          </a:solidFill>
                          <a:latin typeface="Calibri"/>
                        </a:rPr>
                        <a:t>Binarizar &gt; 127; rellenar a cuadrado y redimensionar a 256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4F6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263238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8"/>
                          </a:solidFill>
                          <a:latin typeface="Calibri"/>
                        </a:rPr>
                        <a:t>Tumor pequeño (0,9 % a 1,7 %) y a veces en varias regiones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8"/>
                          </a:solidFill>
                          <a:latin typeface="Calibri"/>
                        </a:rPr>
                        <a:t>Pérdida robusta al desbalance (Dice o focal)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263238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8"/>
                          </a:solidFill>
                          <a:latin typeface="Calibri"/>
                        </a:rPr>
                        <a:t>Brillo y encuadre cambian con la clase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8"/>
                          </a:solidFill>
                          <a:latin typeface="Calibri"/>
                        </a:rPr>
                        <a:t>Normalizar, aumentar brillo y contraste; evaluar por subgrupo (R09)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4F6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263238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8"/>
                          </a:solidFill>
                          <a:latin typeface="Calibri"/>
                        </a:rPr>
                        <a:t>Prueba distinta al entrenamiento; 113 a 123 imágenes parecidas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8"/>
                          </a:solidFill>
                          <a:latin typeface="Calibri"/>
                        </a:rPr>
                        <a:t>No tocar la prueba; reportar por subgrupo y avisar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263238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8"/>
                          </a:solidFill>
                          <a:latin typeface="Calibri"/>
                        </a:rPr>
                        <a:t>Hash de 64 bits agrupaba mal (grupo de 1.933)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8"/>
                          </a:solidFill>
                          <a:latin typeface="Calibri"/>
                        </a:rPr>
                        <a:t>dHash de 256 bits con umbral 16, elegido midiendo distancias</a:t>
                      </a:r>
                    </a:p>
                  </a:txBody>
                  <a:tcPr marL="109728" marR="109728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5DBE5"/>
                      </a:solidFill>
                    </a:lnB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29184"/>
            <a:ext cx="3566160" cy="274320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CIERRE DEL SPRINT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08792" cy="6400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3864"/>
                </a:solidFill>
                <a:latin typeface="Calibri"/>
              </a:rPr>
              <a:t>Riesgos y limitaciones detectadas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10908792" cy="10972"/>
          </a:xfrm>
          <a:prstGeom prst="rect">
            <a:avLst/>
          </a:prstGeom>
          <a:solidFill>
            <a:srgbClr val="D5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7315"/>
          </a:xfrm>
          <a:prstGeom prst="rect">
            <a:avLst/>
          </a:prstGeom>
          <a:solidFill>
            <a:srgbClr val="D5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Sistema Inteligente: tumores cerebrales en MRI  ·  Revisión del Sprint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45375" y="6446520"/>
            <a:ext cx="3200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1F3864"/>
                </a:solidFill>
                <a:latin typeface="Calibri"/>
              </a:rPr>
              <a:t>Expone: Frank Mamani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46520"/>
            <a:ext cx="8229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45920"/>
            <a:ext cx="10908792" cy="45720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400" b="0" i="0">
                <a:solidFill>
                  <a:srgbClr val="6B7280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63238"/>
                </a:solidFill>
                <a:latin typeface="Calibri"/>
              </a:rPr>
              <a:t>Fuga entre pacientes: BRISC no trae ID de paciente; el resultado final se reporta solo con la prueba oficial y se informa que parte de ella se parece al entrenamiento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400" b="0" i="0">
                <a:solidFill>
                  <a:srgbClr val="6B7280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63238"/>
                </a:solidFill>
                <a:latin typeface="Calibri"/>
              </a:rPr>
              <a:t>Cambio de dominio: solo hay T1 con contraste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400" b="0" i="0">
                <a:solidFill>
                  <a:srgbClr val="6B7280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63238"/>
                </a:solidFill>
                <a:latin typeface="Calibri"/>
              </a:rPr>
              <a:t>Atajos por la procedencia de las imágenes (R09, propuesto): brillo, encuadre y modo de archivo cambian con la clase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400" b="0" i="0">
                <a:solidFill>
                  <a:srgbClr val="6B7280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63238"/>
                </a:solidFill>
                <a:latin typeface="Calibri"/>
              </a:rPr>
              <a:t>Imágenes sin tumor: no tienen máscara; la segmentación se entrena y evalúa solo con las 4.793 imágenes con tumor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400" b="0" i="0">
                <a:solidFill>
                  <a:srgbClr val="6B7280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63238"/>
                </a:solidFill>
                <a:latin typeface="Calibri"/>
              </a:rPr>
              <a:t>Arquitecturas inestables en el artículo: Xception, DenseNet y MobileNetV2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400" b="0" i="0">
                <a:solidFill>
                  <a:srgbClr val="6B7280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63238"/>
                </a:solidFill>
                <a:latin typeface="Calibri"/>
              </a:rPr>
              <a:t>Licencia: CC BY 4.0 (metadatos de Kaggle); hay que citar a los autores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29184"/>
            <a:ext cx="3566160" cy="274320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CIERRE DEL SPRINT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08792" cy="6400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3864"/>
                </a:solidFill>
                <a:latin typeface="Calibri"/>
              </a:rPr>
              <a:t>Pendientes y plan del Sprint 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10908792" cy="10972"/>
          </a:xfrm>
          <a:prstGeom prst="rect">
            <a:avLst/>
          </a:prstGeom>
          <a:solidFill>
            <a:srgbClr val="D5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7315"/>
          </a:xfrm>
          <a:prstGeom prst="rect">
            <a:avLst/>
          </a:prstGeom>
          <a:solidFill>
            <a:srgbClr val="D5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Sistema Inteligente: tumores cerebrales en MRI  ·  Revisión del Sprint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45375" y="6446520"/>
            <a:ext cx="3200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1F3864"/>
                </a:solidFill>
                <a:latin typeface="Calibri"/>
              </a:rPr>
              <a:t>Expone: Frank Mamani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46520"/>
            <a:ext cx="8229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B7280"/>
                </a:solidFill>
                <a:latin typeface="Calibri"/>
              </a:rPr>
              <a:t>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45920"/>
            <a:ext cx="10908792" cy="45720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0" i="0">
                <a:solidFill>
                  <a:srgbClr val="6B7280"/>
                </a:solidFill>
                <a:latin typeface="Calibri"/>
              </a:rPr>
              <a:t>■  </a:t>
            </a:r>
            <a:r>
              <a:rPr sz="2100" b="0" i="0">
                <a:solidFill>
                  <a:srgbClr val="263238"/>
                </a:solidFill>
                <a:latin typeface="Calibri"/>
              </a:rPr>
              <a:t>Sprint 1 concluido: las 4 historias (HU01 a HU04) están terminadas y el acta está firmada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0" i="0">
                <a:solidFill>
                  <a:srgbClr val="6B7280"/>
                </a:solidFill>
                <a:latin typeface="Calibri"/>
              </a:rPr>
              <a:t>■  </a:t>
            </a:r>
            <a:r>
              <a:rPr sz="2100" b="0" i="0">
                <a:solidFill>
                  <a:srgbClr val="263238"/>
                </a:solidFill>
                <a:latin typeface="Calibri"/>
              </a:rPr>
              <a:t>Decisión pendiente: framework de entrenamiento y formato de exportación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0" i="0">
                <a:solidFill>
                  <a:srgbClr val="6B7280"/>
                </a:solidFill>
                <a:latin typeface="Calibri"/>
              </a:rPr>
              <a:t>■  </a:t>
            </a:r>
            <a:r>
              <a:rPr sz="2100" b="0" i="0">
                <a:solidFill>
                  <a:srgbClr val="263238"/>
                </a:solidFill>
                <a:latin typeface="Calibri"/>
              </a:rPr>
              <a:t>Instalar PyTorch con soporte CUDA para usar la GPU (la instalación actual es solo CPU)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0" i="0">
                <a:solidFill>
                  <a:srgbClr val="6B7280"/>
                </a:solidFill>
                <a:latin typeface="Calibri"/>
              </a:rPr>
              <a:t>■  </a:t>
            </a:r>
            <a:r>
              <a:rPr sz="2100" b="0" i="0">
                <a:solidFill>
                  <a:srgbClr val="263238"/>
                </a:solidFill>
                <a:latin typeface="Calibri"/>
              </a:rPr>
              <a:t>Sprint 2 (10–22 oct) – Modelado, presentación el 23 oct: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900" b="0" i="0">
                <a:solidFill>
                  <a:srgbClr val="6B7280"/>
                </a:solidFill>
                <a:latin typeface="Calibri"/>
              </a:rPr>
              <a:t>–  </a:t>
            </a:r>
            <a:r>
              <a:rPr sz="1900" b="0" i="0">
                <a:solidFill>
                  <a:srgbClr val="263238"/>
                </a:solidFill>
                <a:latin typeface="Calibri"/>
              </a:rPr>
              <a:t>HU05 Arquitectura y modelo base (12–13 oct)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900" b="0" i="0">
                <a:solidFill>
                  <a:srgbClr val="6B7280"/>
                </a:solidFill>
                <a:latin typeface="Calibri"/>
              </a:rPr>
              <a:t>–  </a:t>
            </a:r>
            <a:r>
              <a:rPr sz="1900" b="0" i="0">
                <a:solidFill>
                  <a:srgbClr val="263238"/>
                </a:solidFill>
                <a:latin typeface="Calibri"/>
              </a:rPr>
              <a:t>HU06 y HU07 Entrenar clasificador y U-Net (14–18 oct)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900" b="0" i="0">
                <a:solidFill>
                  <a:srgbClr val="6B7280"/>
                </a:solidFill>
                <a:latin typeface="Calibri"/>
              </a:rPr>
              <a:t>–  </a:t>
            </a:r>
            <a:r>
              <a:rPr sz="1900" b="0" i="0">
                <a:solidFill>
                  <a:srgbClr val="263238"/>
                </a:solidFill>
                <a:latin typeface="Calibri"/>
              </a:rPr>
              <a:t>HU08 Ajuste de hiperparámetros (19–21 oct)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900" b="0" i="0">
                <a:solidFill>
                  <a:srgbClr val="6B7280"/>
                </a:solidFill>
                <a:latin typeface="Calibri"/>
              </a:rPr>
              <a:t>–  </a:t>
            </a:r>
            <a:r>
              <a:rPr sz="1900" b="0" i="0">
                <a:solidFill>
                  <a:srgbClr val="263238"/>
                </a:solidFill>
                <a:latin typeface="Calibri"/>
              </a:rPr>
              <a:t>HU09 Registro y comparación de experimentos (21–22 oct)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