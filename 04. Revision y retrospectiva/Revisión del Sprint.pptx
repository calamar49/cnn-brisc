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5"/>
    <p:sldMasterId id="2147483684" r:id="rId6"/>
    <p:sldMasterId id="2147483708" r:id="rId7"/>
    <p:sldMasterId id="2147483720" r:id="rId8"/>
    <p:sldMasterId id="2147483840" r:id="rId9"/>
  </p:sldMasterIdLst>
  <p:notesMasterIdLst>
    <p:notesMasterId r:id="rId12"/>
  </p:notesMasterIdLst>
  <p:sldIdLst>
    <p:sldId id="266" r:id="rId10"/>
    <p:sldId id="271" r:id="rId11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9144000" cy="6858000" type="screen4x3"/>
  <p:notesSz cx="6858000" cy="9144000"/>
  <p:defaultTextStyle>
    <a:defPPr>
      <a:defRPr lang="es-P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000"/>
    <a:srgbClr val="C41F04"/>
    <a:srgbClr val="E10000"/>
    <a:srgbClr val="CD0000"/>
    <a:srgbClr val="8E00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9" autoAdjust="0"/>
    <p:restoredTop sz="95126" autoAdjust="0"/>
  </p:normalViewPr>
  <p:slideViewPr>
    <p:cSldViewPr>
      <p:cViewPr varScale="1">
        <p:scale>
          <a:sx n="70" d="100"/>
          <a:sy n="70" d="100"/>
        </p:scale>
        <p:origin x="6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30" d="100"/>
        <a:sy n="130" d="100"/>
      </p:scale>
      <p:origin x="0" y="-666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slideMaster" Target="slideMasters/slideMaster4.xml"/><Relationship Id="rId9" Type="http://schemas.openxmlformats.org/officeDocument/2006/relationships/slideMaster" Target="slideMasters/slideMaster5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D22397-19D0-43F4-884F-DD192CCA8686}" type="datetimeFigureOut">
              <a:rPr lang="es-PA" smtClean="0"/>
              <a:t>26/09/18</a:t>
            </a:fld>
            <a:endParaRPr lang="es-P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P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90ED58-E70D-4DA0-B0A1-68F16CF969FA}" type="slidenum">
              <a:rPr lang="es-PA" smtClean="0"/>
              <a:t>‹Nº›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3096895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90ED58-E70D-4DA0-B0A1-68F16CF969FA}" type="slidenum">
              <a:rPr lang="es-PA" smtClean="0"/>
              <a:t>1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13676425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1718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173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457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27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1591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681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1363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35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021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381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372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2434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4430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48440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3346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61139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59347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0822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87299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A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6082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39533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4277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31215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54401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14508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0622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39640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091846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453987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82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5893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68455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76949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83039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8112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50837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02194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0278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5206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37996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55290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A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68778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8744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32089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905470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537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0269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65949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12956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34156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80256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01349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354785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F0DD0-2A6F-4F79-890C-FFB39C5316A3}" type="datetimeFigureOut">
              <a:rPr lang="en-US" smtClean="0"/>
              <a:t>9/26/2018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01082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D6FD3-7618-407B-9AD1-F22D2D250FF2}" type="datetimeFigureOut">
              <a:rPr lang="en-US" smtClean="0"/>
              <a:t>9/26/2018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653573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48177" y="3771174"/>
            <a:ext cx="5540814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685AEE-FEBA-4707-9A7F-B8CF33FA2E44}" type="datetimeFigureOut">
              <a:rPr lang="en-US" smtClean="0"/>
              <a:t>9/26/2018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1716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3124201"/>
            <a:ext cx="6620968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9DBA2-4164-48AA-BE36-C02775701CCE}" type="datetimeFigureOut">
              <a:rPr lang="en-US" smtClean="0"/>
              <a:t>9/26/2018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62309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A62D7-2A52-40FE-9D68-7AA14F989445}" type="datetimeFigureOut">
              <a:rPr lang="en-US" smtClean="0"/>
              <a:t>9/26/2018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291804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7A9BF-74C6-453E-9062-D3583FAE2170}" type="datetimeFigureOut">
              <a:rPr lang="en-US" smtClean="0"/>
              <a:t>9/26/2018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6809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6765178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76539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13" Type="http://schemas.openxmlformats.org/officeDocument/2006/relationships/image" Target="../media/image2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slideLayout" Target="../slideLayouts/slideLayout46.xml"/><Relationship Id="rId3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0.xml"/><Relationship Id="rId7" Type="http://schemas.openxmlformats.org/officeDocument/2006/relationships/slideLayout" Target="../slideLayouts/slideLayout51.xml"/><Relationship Id="rId8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3.xml"/><Relationship Id="rId10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56.xml"/><Relationship Id="rId13" Type="http://schemas.openxmlformats.org/officeDocument/2006/relationships/slideLayout" Target="../slideLayouts/slideLayout57.xml"/><Relationship Id="rId14" Type="http://schemas.openxmlformats.org/officeDocument/2006/relationships/slideLayout" Target="../slideLayouts/slideLayout58.xml"/><Relationship Id="rId15" Type="http://schemas.openxmlformats.org/officeDocument/2006/relationships/slideLayout" Target="../slideLayouts/slideLayout59.xml"/><Relationship Id="rId16" Type="http://schemas.openxmlformats.org/officeDocument/2006/relationships/slideLayout" Target="../slideLayouts/slideLayout60.xml"/><Relationship Id="rId17" Type="http://schemas.openxmlformats.org/officeDocument/2006/relationships/slideLayout" Target="../slideLayouts/slideLayout61.xml"/><Relationship Id="rId1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0"/>
            <a:ext cx="91888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890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13"/>
          <a:srcRect l="365"/>
          <a:stretch/>
        </p:blipFill>
        <p:spPr>
          <a:xfrm>
            <a:off x="0" y="0"/>
            <a:ext cx="9173102" cy="685800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251520" y="6237312"/>
            <a:ext cx="16433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PMO-MON-101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288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0"/>
            <a:ext cx="9188823" cy="685800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251520" y="6237312"/>
            <a:ext cx="16433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chemeClr val="tx1"/>
                </a:solidFill>
              </a:rPr>
              <a:t>PMO-MON-101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7786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13"/>
          <a:srcRect l="365"/>
          <a:stretch/>
        </p:blipFill>
        <p:spPr>
          <a:xfrm>
            <a:off x="0" y="0"/>
            <a:ext cx="9173102" cy="6858000"/>
          </a:xfrm>
          <a:prstGeom prst="rect">
            <a:avLst/>
          </a:prstGeom>
        </p:spPr>
      </p:pic>
      <p:sp>
        <p:nvSpPr>
          <p:cNvPr id="2" name="Rectangle 1"/>
          <p:cNvSpPr/>
          <p:nvPr userDrawn="1"/>
        </p:nvSpPr>
        <p:spPr>
          <a:xfrm>
            <a:off x="251520" y="6237312"/>
            <a:ext cx="16433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PMO-MON-101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85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7000"/>
                </a:schemeClr>
              </a:gs>
              <a:gs pos="69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4000"/>
                </a:schemeClr>
              </a:gs>
              <a:gs pos="73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0000"/>
                </a:schemeClr>
              </a:gs>
              <a:gs pos="66000">
                <a:schemeClr val="accent1">
                  <a:lumMod val="60000"/>
                  <a:lumOff val="40000"/>
                  <a:alpha val="0"/>
                </a:schemeClr>
              </a:gs>
              <a:gs pos="31000">
                <a:schemeClr val="accent1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1000"/>
                </a:schemeClr>
              </a:gs>
              <a:gs pos="75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8000"/>
                </a:schemeClr>
              </a:gs>
              <a:gs pos="72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9/26/2018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9156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  <p:sldLayoutId id="2147483855" r:id="rId15"/>
    <p:sldLayoutId id="2147483856" r:id="rId16"/>
    <p:sldLayoutId id="214748385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1691680" y="620688"/>
            <a:ext cx="60203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A" sz="2800" b="1" dirty="0" smtClean="0">
                <a:solidFill>
                  <a:prstClr val="white"/>
                </a:solidFill>
              </a:rPr>
              <a:t>REUNION DE DEMOSTRACION Y</a:t>
            </a:r>
          </a:p>
          <a:p>
            <a:pPr algn="ctr"/>
            <a:r>
              <a:rPr lang="es-PA" sz="2800" b="1" dirty="0" smtClean="0">
                <a:solidFill>
                  <a:prstClr val="white"/>
                </a:solidFill>
              </a:rPr>
              <a:t>REVISION DEL SPRINT 1</a:t>
            </a:r>
            <a:endParaRPr lang="en-US" sz="2800" b="1" dirty="0">
              <a:solidFill>
                <a:prstClr val="white"/>
              </a:solidFill>
            </a:endParaRPr>
          </a:p>
        </p:txBody>
      </p:sp>
      <p:sp>
        <p:nvSpPr>
          <p:cNvPr id="3" name="CuadroTexto 1"/>
          <p:cNvSpPr txBox="1"/>
          <p:nvPr/>
        </p:nvSpPr>
        <p:spPr>
          <a:xfrm>
            <a:off x="1403648" y="4293096"/>
            <a:ext cx="60203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A" sz="2800" b="1" dirty="0" smtClean="0">
                <a:solidFill>
                  <a:prstClr val="white"/>
                </a:solidFill>
              </a:rPr>
              <a:t>SISTEMA INTELIGENTE: TUMORES CEREBRALES EN MRI</a:t>
            </a:r>
          </a:p>
          <a:p>
            <a:pPr algn="ctr"/>
            <a:r>
              <a:rPr lang="es-PA" sz="2800" b="1" dirty="0" err="1" smtClean="0">
                <a:solidFill>
                  <a:prstClr val="white"/>
                </a:solidFill>
              </a:rPr>
              <a:t>12/10/2026</a:t>
            </a:r>
            <a:endParaRPr lang="es-PA" sz="2800" b="1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826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1412776"/>
            <a:ext cx="6372257" cy="1723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A" sz="2800" b="1" dirty="0" smtClean="0"/>
              <a:t>AGENDA</a:t>
            </a:r>
          </a:p>
          <a:p>
            <a:endParaRPr lang="es-PA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PA" sz="2000" dirty="0" smtClean="0"/>
              <a:t>Meta del Sprint 1 y el proyecto</a:t>
            </a:r>
            <a:endParaRPr lang="es-PA" sz="2000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PA" sz="2000" dirty="0" smtClean="0"/>
              <a:t>Historias de Usuario completadas en este Sprint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PA" sz="2000" dirty="0" smtClean="0"/>
              <a:t>Demostración del trabajo completado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PA" sz="2000" dirty="0" smtClean="0"/>
              <a:t>Pendientes y plan del Sprint 2</a:t>
            </a:r>
          </a:p>
        </p:txBody>
      </p:sp>
    </p:spTree>
    <p:extLst>
      <p:ext uri="{BB962C8B-B14F-4D97-AF65-F5344CB8AC3E}">
        <p14:creationId xmlns:p14="http://schemas.microsoft.com/office/powerpoint/2010/main" val="2723424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META DEL SPRINT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Entender el problema y el dataset BRISC a fondo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Dejar los datos listos y particionados, sin fuga evidente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Metodología híbrida: Scrum + CRISP-ML(Q)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–  Sprint 1 = comprensión del negocio y de los datos + preparación de los datos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Trabajo del sprint: 1 al 8 de octubre · Presentación: 12 de octubre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PROYECTO: ¿PARA QUÉ? ¿PARA DÓNDE?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¿Para qué? Mostrar, con fines académicos, cómo una red neuronal puede apoyar la interpretación de resonancias magnéticas cerebrales: identifica el tipo de tumor y delimita su contorno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¿Para dónde? Una aplicación web de demostración donde se sube una MRI y se obtiene la clase, la probabilidad y la máscara del tumor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No es una herramienta de diagnóstico: uso académico y de investigación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DATASET: BRISC 2025 (VERIFICADO)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74980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737360"/>
                <a:gridCol w="1371600"/>
                <a:gridCol w="14630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A140A"/>
                          </a:solidFill>
                          <a:latin typeface="Calibri"/>
                        </a:rPr>
                        <a:t>Clase</a:t>
                      </a:r>
                    </a:p>
                  </a:txBody>
                  <a:tcPr marT="27432" marB="27432">
                    <a:solidFill>
                      <a:srgbClr val="F6A8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A140A"/>
                          </a:solidFill>
                          <a:latin typeface="Calibri"/>
                        </a:rPr>
                        <a:t>Entrenamiento</a:t>
                      </a:r>
                    </a:p>
                  </a:txBody>
                  <a:tcPr marT="27432" marB="27432">
                    <a:solidFill>
                      <a:srgbClr val="F6A8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A140A"/>
                          </a:solidFill>
                          <a:latin typeface="Calibri"/>
                        </a:rPr>
                        <a:t>Prueba</a:t>
                      </a:r>
                    </a:p>
                  </a:txBody>
                  <a:tcPr marT="27432" marB="27432">
                    <a:solidFill>
                      <a:srgbClr val="F6A8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A140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27432" marB="27432">
                    <a:solidFill>
                      <a:srgbClr val="F6A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Glioma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1.147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1.401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Meningioma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1.329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306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1.635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Tumor de hipófisis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1.457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1.757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Sin tumor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1.067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1.207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5.000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Calibri"/>
                        </a:rPr>
                        <a:t>6.000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77639"/>
            <a:ext cx="7498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Imágenes T1 con contraste en cortes axiales, coronales y sagitales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4.793 pares imagen-máscara (solo las 3 clases con tumor; sin tumor no tiene máscara)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Sin ID de paciente: riesgo de fuga entre particiones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Fuente: Kaggle (briscdataset/brisc2025) · licencia CC BY 4.0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HISTORIAS DE USUARIO DEL SPRINT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768096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56032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A140A"/>
                          </a:solidFill>
                          <a:latin typeface="Calibri"/>
                        </a:rPr>
                        <a:t>Historia</a:t>
                      </a:r>
                    </a:p>
                  </a:txBody>
                  <a:tcPr marT="27432" marB="27432">
                    <a:solidFill>
                      <a:srgbClr val="F6A8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A140A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T="27432" marB="27432">
                    <a:solidFill>
                      <a:srgbClr val="F6A8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5A140A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marT="27432" marB="27432">
                    <a:solidFill>
                      <a:srgbClr val="F6A81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HU01 Definir el problema y el alcance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Completada (acta por firmar)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Acta de Constitución, backlog en Trello, Gantt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HU02 Descargar y explorar BRISC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Completada (notebook ejecutado)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Notebook, figuras y eda_resumen.json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HU03 Preparar los datos y la partición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Completada (notebook ejecutado)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Listas de partición y cargador de datos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HU04 Presentación del Sprint 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En curso (hoy)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Esta presentación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DEMOSTRACIÓN DEL TRABAJO COMPLETADO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Tablero de Trello: backlog con 17 historias, criterios de aceptación y fases CRISP-ML(Q)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Notebook HU02: se descargó BRISC 2025 y se ejecutó el análisis exploratorio con los datos reales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Notebook HU03: verificación de archivos, agrupación de imágenes parecidas, partición y cargador de datos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Los conteos por clase y partición coinciden con el artículo (diferencia 0 en las 8 combinaciones)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Las figuras siguen en las próximas diapositivas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CONTEOS POR CLASE Y PLANO DE CORTE</a:t>
            </a:r>
          </a:p>
        </p:txBody>
      </p:sp>
      <p:pic>
        <p:nvPicPr>
          <p:cNvPr id="3" name="Picture 2" descr="conteo_clase_parti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371600"/>
            <a:ext cx="4389120" cy="2508069"/>
          </a:xfrm>
          <a:prstGeom prst="rect">
            <a:avLst/>
          </a:prstGeom>
        </p:spPr>
      </p:pic>
      <p:pic>
        <p:nvPicPr>
          <p:cNvPr id="4" name="Picture 3" descr="planos_por_cl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023360"/>
            <a:ext cx="4389120" cy="25080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IMAGEN Y MÁSCARA POR CLASE</a:t>
            </a:r>
          </a:p>
        </p:txBody>
      </p:sp>
      <p:pic>
        <p:nvPicPr>
          <p:cNvPr id="3" name="Picture 2" descr="galeria_imagen_masca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371600"/>
            <a:ext cx="39090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TAMAÑO DEL TUMOR</a:t>
            </a:r>
          </a:p>
        </p:txBody>
      </p:sp>
      <p:pic>
        <p:nvPicPr>
          <p:cNvPr id="3" name="Picture 2" descr="tamano_tum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8046720" cy="1280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El tumor ocupa en mediana entre 0,9 % (hipófisis) y 1,7 % (meningioma) de la imagen: el fondo domina</a:t>
            </a:r>
          </a:p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Esto condiciona la función de pérdida de la segmentación en el Sprint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HALLAZGOS DEL ANÁLISIS EXPLORATORIO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Clases y pares: 6.000 imágenes y 4.793 pares imagen-máscara; sin tumor (1.207) no tiene máscara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Máscaras: valores intermedios por remuestreo; se binarizan con umbral &gt; 127. Ninguna está vacía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Tamaños: 183 combinaciones de ancho × alto (4.881 son de 512×512); se rellena a cuadrado sin deformar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Planos de corte: difieren levemente de la Tabla 2 del artículo (por ejemplo, entrenamiento axial 1.595 vs 1.550)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Duplicados: 96 archivos con SHA-256 repetido; 113 a 123 imágenes de prueba tienen un vecino casi idéntico en entrenamiento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Partición propia: 3.999 entrenamiento, 1.001 validación (20 %, por clase y plano) y 1.000 prueba oficial intacta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RIESGOS Y LIMITACIONES DETECTADAS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Fuga entre pacientes: BRISC no trae ID de paciente; el resultado final se reporta solo con la prueba oficial y se informa que parte de ella se parece al entrenamiento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Cambio de dominio: solo hay T1 con contraste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Imágenes sin tumor: confirmado que no tienen máscara; la segmentación se entrena y evalúa solo con las 4.793 imágenes con tumor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Arquitecturas inestables en el artículo: Xception, DenseNet y MobileNetV2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Licencia: CC BY 4.0 (metadatos de Kaggle); hay que citar a los autores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PENDIENTES Y PLAN DEL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Pendientes del Sprint 1: firmar el acta y marcar HU01 a HU03 como terminadas en Trello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Decisión pendiente: framework de entrenamiento y formato de exportación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Instalar PyTorch con soporte CUDA para usar la GPU (la instalación actual es solo CPU)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Sprint 2 (10–22 oct) – Modelado, presentación el 23 oct: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–  HU05 Arquitectura y modelo base (12–13 oct)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–  HU06 y HU07 Entrenar clasificador y U-Net (14–18 oct)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–  HU08 Ajuste de hiperparámetros (19–21 oct)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–  HU09 Registro y comparación de experimentos (21–22 oct)</a:t>
            </a:r>
          </a:p>
        </p:txBody>
      </p:sp>
    </p:spTree>
  </p:cSld>
  <p:clrMapOvr>
    <a:masterClrMapping/>
  </p:clrMapOvr>
</p:sld>
</file>

<file path=ppt/theme/_rels/them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/Relationships>
</file>

<file path=ppt/theme/theme1.xml><?xml version="1.0" encoding="utf-8"?>
<a:theme xmlns:a="http://schemas.openxmlformats.org/drawingml/2006/main" name="1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PT_Grupo Rey_Actualizada_1 [solo lectura]" id="{533A53B2-B7D8-4C76-81B7-5CC4BE25A0E7}" vid="{F4D2D2C8-2F4E-4B5A-9940-CB63F3447BE0}"/>
    </a:ext>
  </a:extLst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PT_Grupo Rey_Actualizada_1 [solo lectura]" id="{533A53B2-B7D8-4C76-81B7-5CC4BE25A0E7}" vid="{502E3936-DC63-43D3-BC3E-45E2DBA39A5A}"/>
    </a:ext>
  </a:extLst>
</a:theme>
</file>

<file path=ppt/theme/theme3.xml><?xml version="1.0" encoding="utf-8"?>
<a:theme xmlns:a="http://schemas.openxmlformats.org/drawingml/2006/main" name="2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PT_Grupo Rey_Actualizada_1 [solo lectura]" id="{533A53B2-B7D8-4C76-81B7-5CC4BE25A0E7}" vid="{F4D2D2C8-2F4E-4B5A-9940-CB63F3447BE0}"/>
    </a:ext>
  </a:extLst>
</a:theme>
</file>

<file path=ppt/theme/theme4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PT_Grupo Rey_Actualizada_1 [solo lectura]" id="{533A53B2-B7D8-4C76-81B7-5CC4BE25A0E7}" vid="{502E3936-DC63-43D3-BC3E-45E2DBA39A5A}"/>
    </a:ext>
  </a:extLst>
</a:theme>
</file>

<file path=ppt/theme/theme5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EE5818"/>
      </a:dk2>
      <a:lt2>
        <a:srgbClr val="EBEBEB"/>
      </a:lt2>
      <a:accent1>
        <a:srgbClr val="F5A408"/>
      </a:accent1>
      <a:accent2>
        <a:srgbClr val="FA731A"/>
      </a:accent2>
      <a:accent3>
        <a:srgbClr val="AB9281"/>
      </a:accent3>
      <a:accent4>
        <a:srgbClr val="A18CD0"/>
      </a:accent4>
      <a:accent5>
        <a:srgbClr val="8EBBD2"/>
      </a:accent5>
      <a:accent6>
        <a:srgbClr val="ACC995"/>
      </a:accent6>
      <a:hlink>
        <a:srgbClr val="FAC96A"/>
      </a:hlink>
      <a:folHlink>
        <a:srgbClr val="FCDB9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04000"/>
                <a:satMod val="128000"/>
                <a:lumMod val="104000"/>
              </a:schemeClr>
            </a:gs>
            <a:gs pos="100000">
              <a:schemeClr val="phClr">
                <a:tint val="100000"/>
                <a:shade val="76000"/>
                <a:hueMod val="89000"/>
                <a:satMod val="164000"/>
                <a:lumMod val="68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2000"/>
                <a:hueMod val="42000"/>
                <a:satMod val="124000"/>
                <a:lumMod val="62000"/>
              </a:schemeClr>
              <a:schemeClr val="phClr">
                <a:tint val="96000"/>
                <a:satMod val="13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5A2F9111-B2DB-470C-BA56-608F9B658826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124E24CAF14D46B2DD609ACFD84C07" ma:contentTypeVersion="0" ma:contentTypeDescription="Create a new document." ma:contentTypeScope="" ma:versionID="9971b3b784abbe199b171e233c6d3889">
  <xsd:schema xmlns:xsd="http://www.w3.org/2001/XMLSchema" xmlns:xs="http://www.w3.org/2001/XMLSchema" xmlns:p="http://schemas.microsoft.com/office/2006/metadata/properties" xmlns:ns2="01eb4bd6-a8ff-4439-b7eb-fe0a650fbd8a" targetNamespace="http://schemas.microsoft.com/office/2006/metadata/properties" ma:root="true" ma:fieldsID="9a36e787f936117f0a8f63b0cc0186e7" ns2:_="">
    <xsd:import namespace="01eb4bd6-a8ff-4439-b7eb-fe0a650fbd8a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eb4bd6-a8ff-4439-b7eb-fe0a650fbd8a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Identificador persistente" ma:description="Mantener el identificador al agregar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01eb4bd6-a8ff-4439-b7eb-fe0a650fbd8a">FWJASSSE55TN-275-89</_dlc_DocId>
    <_dlc_DocIdUrl xmlns="01eb4bd6-a8ff-4439-b7eb-fe0a650fbd8a">
      <Url>https://portal.smrey.net/areas/it/_layouts/15/DocIdRedir.aspx?ID=FWJASSSE55TN-275-89</Url>
      <Description>FWJASSSE55TN-275-89</Description>
    </_dlc_DocIdUrl>
  </documentManagement>
</p:properti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A7CCABAD-9D4B-42FB-80F1-5D032DA0579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9CA153A-738A-46A0-99D9-95D181851BE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eb4bd6-a8ff-4439-b7eb-fe0a650fbd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0382EE-287C-4A6D-BC9A-747A508B6B29}">
  <ds:schemaRefs>
    <ds:schemaRef ds:uri="01eb4bd6-a8ff-4439-b7eb-fe0a650fbd8a"/>
    <ds:schemaRef ds:uri="http://schemas.microsoft.com/office/infopath/2007/PartnerControls"/>
    <ds:schemaRef ds:uri="http://purl.org/dc/dcmitype/"/>
    <ds:schemaRef ds:uri="http://purl.org/dc/terms/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www.w3.org/XML/1998/namespace"/>
  </ds:schemaRefs>
</ds:datastoreItem>
</file>

<file path=customXml/itemProps4.xml><?xml version="1.0" encoding="utf-8"?>
<ds:datastoreItem xmlns:ds="http://schemas.openxmlformats.org/officeDocument/2006/customXml" ds:itemID="{DB829AFC-3782-4D2D-8542-5E6C64387F0D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9217</TotalTime>
  <Words>26</Words>
  <Application>Microsoft Office PowerPoint</Application>
  <PresentationFormat>Presentación en pantalla (4:3)</PresentationFormat>
  <Paragraphs>10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5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Arial</vt:lpstr>
      <vt:lpstr>Calibri</vt:lpstr>
      <vt:lpstr>Calibri Light</vt:lpstr>
      <vt:lpstr>Century Gothic</vt:lpstr>
      <vt:lpstr>Wingdings 3</vt:lpstr>
      <vt:lpstr>1_Tema de Office</vt:lpstr>
      <vt:lpstr>Diseño personalizado</vt:lpstr>
      <vt:lpstr>2_Tema de Office</vt:lpstr>
      <vt:lpstr>1_Diseño personalizado</vt:lpstr>
      <vt:lpstr>Ion</vt:lpstr>
      <vt:lpstr>Presentación de PowerPoint</vt:lpstr>
      <vt:lpstr>Presentación de PowerPoint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hbravo-consultorge@innovacion.gob.pa</dc:creator>
  <cp:lastModifiedBy>Hector Bravo Consultor GE</cp:lastModifiedBy>
  <cp:revision>253</cp:revision>
  <dcterms:created xsi:type="dcterms:W3CDTF">2012-03-27T19:44:46Z</dcterms:created>
  <dcterms:modified xsi:type="dcterms:W3CDTF">2018-09-26T17:41:48Z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0x010100A5124E24CAF14D46B2DD609ACFD84C07</vt:lpwstr>
  </property>
  <property fmtid="{D5CDD505-2E9C-101B-9397-08002B2CF9AE}" pid="3" name="_dlc_DocIdItemGuid">
    <vt:lpwstr>ad5b9eb1-3f56-4f57-9c5a-78d9eb8422d9</vt:lpwstr>
  </property>
</Properties>
</file>