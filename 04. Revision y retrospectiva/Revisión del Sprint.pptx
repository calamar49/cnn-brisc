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840" r:id="rId9"/>
  </p:sldMasterIdLst>
  <p:notesMasterIdLst>
    <p:notesMasterId r:id="rId12"/>
  </p:notesMasterIdLst>
  <p:sldIdLst>
    <p:sldId id="266" r:id="rId10"/>
    <p:sldId id="271" r:id="rId11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5126" autoAdjust="0"/>
  </p:normalViewPr>
  <p:slideViewPr>
    <p:cSldViewPr>
      <p:cViewPr varScale="1">
        <p:scale>
          <a:sx n="70" d="100"/>
          <a:sy n="70" d="100"/>
        </p:scale>
        <p:origin x="6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slideMaster" Target="slideMasters/slideMaster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26/09/18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054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37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0269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6594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1295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3415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025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134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5478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0DD0-2A6F-4F79-890C-FFB39C5316A3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108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6FD3-7618-407B-9AD1-F22D2D250FF2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5357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540814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85AEE-FEBA-4707-9A7F-B8CF33FA2E44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716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DBA2-4164-48AA-BE36-C02775701CCE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6230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2D7-2A52-40FE-9D68-7AA14F989445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180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A9BF-74C6-453E-9062-D3583FAE2170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6809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7651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539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3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PMO-MON-101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PMO-MON-101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PMO-MON-101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2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156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 smtClean="0">
                <a:solidFill>
                  <a:prstClr val="white"/>
                </a:solidFill>
              </a:rPr>
              <a:t>REUNION DE DEMOSTRACION Y</a:t>
            </a:r>
          </a:p>
          <a:p>
            <a:pPr algn="ctr"/>
            <a:r>
              <a:rPr lang="es-PA" sz="2800" b="1" dirty="0" smtClean="0">
                <a:solidFill>
                  <a:prstClr val="white"/>
                </a:solidFill>
              </a:rPr>
              <a:t>REVISION DEL SPRINT 1</a:t>
            </a:r>
            <a:endParaRPr lang="en-US" sz="2800" b="1" dirty="0">
              <a:solidFill>
                <a:prstClr val="white"/>
              </a:solidFill>
            </a:endParaRPr>
          </a:p>
        </p:txBody>
      </p:sp>
      <p:sp>
        <p:nvSpPr>
          <p:cNvPr id="3" name="CuadroTexto 1"/>
          <p:cNvSpPr txBox="1"/>
          <p:nvPr/>
        </p:nvSpPr>
        <p:spPr>
          <a:xfrm>
            <a:off x="1403648" y="4293096"/>
            <a:ext cx="6020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 smtClean="0">
                <a:solidFill>
                  <a:prstClr val="white"/>
                </a:solidFill>
              </a:rPr>
              <a:t>SISTEMA INTELIGENTE: TUMORES CEREBRALES EN MRI</a:t>
            </a:r>
          </a:p>
          <a:p>
            <a:pPr algn="ctr"/>
            <a:r>
              <a:rPr lang="es-PA" sz="2800" b="1" dirty="0" err="1" smtClean="0">
                <a:solidFill>
                  <a:prstClr val="white"/>
                </a:solidFill>
              </a:rPr>
              <a:t>12/10/2026</a:t>
            </a:r>
            <a:endParaRPr lang="es-PA" sz="28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6372257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 smtClean="0"/>
              <a:t>AGENDA</a:t>
            </a:r>
          </a:p>
          <a:p>
            <a:endParaRPr lang="es-P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 smtClean="0"/>
              <a:t>Meta del Sprint 1 y el proyecto</a:t>
            </a:r>
            <a:endParaRPr lang="es-PA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 smtClean="0"/>
              <a:t>Historias de Usuario completadas en este Sprint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 smtClean="0"/>
              <a:t>Demostración del trabajo completado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 smtClean="0"/>
              <a:t>Pendientes y plan del Sprint 2</a:t>
            </a:r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META DEL 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Entender el problema y el dataset BRISC a fondo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Dejar los datos listos y particionados, sin fuga evidente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Metodología híbrida: Scrum + CRISP-ML(Q)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–  Sprint 1 = comprensión del negocio y de los datos + preparación de los datos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Trabajo del sprint: 1 al 8 de octubre · Presentación: 12 de octubre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PROYECTO: ¿PARA QUÉ? ¿PARA DÓNDE?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¿Para qué? Mostrar, con fines académicos, cómo una red neuronal puede apoyar la interpretación de resonancias magnéticas cerebrales: identifica el tipo de tumor y delimita su contorno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¿Para dónde? Una aplicación web de demostración donde se sube una MRI y se obtiene la clase, la probabilidad y la máscara del tumor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No es una herramienta de diagnóstico: uso académico y de investigación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DATASET: BRISC 2025 (VERIFICADO)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74980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737360"/>
                <a:gridCol w="1371600"/>
                <a:gridCol w="146304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140A"/>
                          </a:solidFill>
                          <a:latin typeface="Calibri"/>
                        </a:rPr>
                        <a:t>Clase</a:t>
                      </a:r>
                    </a:p>
                  </a:txBody>
                  <a:tcPr marT="27432" marB="27432">
                    <a:solidFill>
                      <a:srgbClr val="F6A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140A"/>
                          </a:solidFill>
                          <a:latin typeface="Calibri"/>
                        </a:rPr>
                        <a:t>Entrenamiento</a:t>
                      </a:r>
                    </a:p>
                  </a:txBody>
                  <a:tcPr marT="27432" marB="27432">
                    <a:solidFill>
                      <a:srgbClr val="F6A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140A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T="27432" marB="27432">
                    <a:solidFill>
                      <a:srgbClr val="F6A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140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27432" marB="27432">
                    <a:solidFill>
                      <a:srgbClr val="F6A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Glioma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1.147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254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1.401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Meningioma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1.329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1.635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Tumor de hipófisis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1.457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1.757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Sin tumor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1.067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1.207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5.000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6.000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77639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Imágenes T1 con contraste en cortes axiales, coronales y sagitales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4.793 pares imagen-máscara (solo las 3 clases con tumor; sin tumor no tiene máscara)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Sin ID de paciente: riesgo de fuga entre particiones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Fuente: Kaggle (briscdataset/brisc2025) · licencia CC BY 4.0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HISTORIAS DE USUARIO DEL SPRINT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76809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256032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140A"/>
                          </a:solidFill>
                          <a:latin typeface="Calibri"/>
                        </a:rPr>
                        <a:t>Historia</a:t>
                      </a:r>
                    </a:p>
                  </a:txBody>
                  <a:tcPr marT="27432" marB="27432">
                    <a:solidFill>
                      <a:srgbClr val="F6A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140A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T="27432" marB="27432">
                    <a:solidFill>
                      <a:srgbClr val="F6A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140A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T="27432" marB="27432">
                    <a:solidFill>
                      <a:srgbClr val="F6A8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HU01 Definir el problema y el alcance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Completada (acta firmada)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Acta de Constitución, backlog en Trello, Gantt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HU02 Descargar y explorar BRISC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Completada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Notebook, figuras y eda_resumen.json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HU03 Preparar los datos y la partición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Completada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Listas de partición y cargador de datos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HU04 Presentación del Sprint 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Completada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Esta presentación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DEMOSTRACIÓN DEL TRABAJO COMPLETADO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Tablero de Trello: backlog con 17 historias, criterios de aceptación y fases CRISP-ML(Q)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Notebook HU02: se descargó BRISC 2025 y se ejecutó el análisis exploratorio con los datos reales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Notebook HU03: verificación de archivos, agrupación de imágenes parecidas, partición y cargador de datos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Los conteos por clase y partición coinciden con el artículo (diferencia 0 en las 8 combinaciones)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Las figuras siguen en las próximas diapositivas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CONTEOS POR CLASE Y PLANO DE CORTE</a:t>
            </a:r>
          </a:p>
        </p:txBody>
      </p:sp>
      <p:pic>
        <p:nvPicPr>
          <p:cNvPr id="3" name="Picture 2" descr="conteo_clase_part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371600"/>
            <a:ext cx="4389120" cy="2508069"/>
          </a:xfrm>
          <a:prstGeom prst="rect">
            <a:avLst/>
          </a:prstGeom>
        </p:spPr>
      </p:pic>
      <p:pic>
        <p:nvPicPr>
          <p:cNvPr id="4" name="Picture 3" descr="planos_por_cl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023360"/>
            <a:ext cx="4389120" cy="25080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IMAGEN Y MÁSCARA POR CLASE</a:t>
            </a:r>
          </a:p>
        </p:txBody>
      </p:sp>
      <p:pic>
        <p:nvPicPr>
          <p:cNvPr id="3" name="Picture 2" descr="galeria_imagen_masc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371600"/>
            <a:ext cx="39090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TAMAÑO DEL TUMOR</a:t>
            </a:r>
          </a:p>
        </p:txBody>
      </p:sp>
      <p:pic>
        <p:nvPicPr>
          <p:cNvPr id="3" name="Picture 2" descr="tamano_tum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804672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El tumor ocupa en mediana entre 0,9 % (hipófisis) y 1,7 % (meningioma) de la imagen: el fondo domina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Esto condiciona la función de pérdida de la segmentación en el Sprint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HALLAZGOS DEL ANÁLISIS EXPLORATORIO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Clases y pares: 6.000 imágenes y 4.793 pares imagen-máscara; sin tumor (1.207) no tiene máscara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Máscaras: valores intermedios por remuestreo; se binarizan con umbral &gt; 127. Ninguna está vacía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Tamaños: 183 combinaciones de ancho × alto (4.881 son de 512×512); se rellena a cuadrado sin deformar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Planos de corte: difieren levemente de la Tabla 2 del artículo (por ejemplo, entrenamiento axial 1.595 vs 1.550)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Duplicados: 96 archivos con SHA-256 repetido; 113 a 123 imágenes de prueba tienen un vecino casi idéntico en entrenamiento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Partición propia: 3.999 entrenamiento, 1.001 validación (20 %, por clase y plano) y 1.000 prueba oficial intacta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RIESGOS Y LIMITACIONES DETECTADAS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Fuga entre pacientes: BRISC no trae ID de paciente; el resultado final se reporta solo con la prueba oficial y se informa que parte de ella se parece al entrenamiento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Cambio de dominio: solo hay T1 con contraste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Imágenes sin tumor: confirmado que no tienen máscara; la segmentación se entrena y evalúa solo con las 4.793 imágenes con tumor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Arquitecturas inestables en el artículo: Xception, DenseNet y MobileNetV2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Licencia: CC BY 4.0 (metadatos de Kaggle); hay que citar a los autores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PENDIENTES Y PLAN DEL 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Sprint 1 concluido: las 4 historias (HU01 a HU04) están terminadas y el acta está firmada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Decisión pendiente: framework de entrenamiento y formato de exportación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Instalar PyTorch con soporte CUDA para usar la GPU (la instalación actual es solo CPU)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Sprint 2 (10–22 oct) – Modelado, presentación el 23 oct: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–  HU05 Arquitectura y modelo base (12–13 oct)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–  HU06 y HU07 Entrenar clasificador y U-Net (14–18 oct)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–  HU08 Ajuste de hiperparámetros (19–21 oct)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–  HU09 Registro y comparación de experimentos (21–22 oct)</a:t>
            </a:r>
          </a:p>
        </p:txBody>
      </p:sp>
    </p:spTree>
  </p:cSld>
  <p:clrMapOvr>
    <a:masterClrMapping/>
  </p:clrMapOvr>
</p:sld>
</file>

<file path=ppt/theme/_rels/them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FWJASSSE55TN-275-89</_dlc_DocId>
    <_dlc_DocIdUrl xmlns="01eb4bd6-a8ff-4439-b7eb-fe0a650fbd8a">
      <Url>https://portal.smrey.net/areas/it/_layouts/15/DocIdRedir.aspx?ID=FWJASSSE55TN-275-89</Url>
      <Description>FWJASSSE55TN-275-89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7CCABAD-9D4B-42FB-80F1-5D032DA057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CA153A-738A-46A0-99D9-95D181851B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0382EE-287C-4A6D-BC9A-747A508B6B29}">
  <ds:schemaRefs>
    <ds:schemaRef ds:uri="01eb4bd6-a8ff-4439-b7eb-fe0a650fbd8a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DB829AFC-3782-4D2D-8542-5E6C64387F0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9217</TotalTime>
  <Words>26</Words>
  <Application>Microsoft Office PowerPoint</Application>
  <PresentationFormat>Presentación en pantalla (4:3)</PresentationFormat>
  <Paragraphs>10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Ion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Hector Bravo Consultor GE</cp:lastModifiedBy>
  <cp:revision>253</cp:revision>
  <dcterms:created xsi:type="dcterms:W3CDTF">2012-03-27T19:44:46Z</dcterms:created>
  <dcterms:modified xsi:type="dcterms:W3CDTF">2018-09-26T17:41:48Z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ad5b9eb1-3f56-4f57-9c5a-78d9eb8422d9</vt:lpwstr>
  </property>
</Properties>
</file>